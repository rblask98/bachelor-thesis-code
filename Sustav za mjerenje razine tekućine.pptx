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71" r:id="rId5"/>
    <p:sldId id="272" r:id="rId6"/>
    <p:sldId id="273" r:id="rId7"/>
    <p:sldId id="274" r:id="rId8"/>
    <p:sldId id="261" r:id="rId9"/>
    <p:sldId id="260" r:id="rId10"/>
    <p:sldId id="263" r:id="rId11"/>
    <p:sldId id="262" r:id="rId12"/>
    <p:sldId id="264" r:id="rId13"/>
    <p:sldId id="276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98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E5097E-FBAA-449C-AD17-0B8D3FCD47E3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2F1A6F66-3A77-4A83-AA59-53E33087A0DB}">
      <dgm:prSet phldrT="[Text]"/>
      <dgm:spPr/>
      <dgm:t>
        <a:bodyPr/>
        <a:lstStyle/>
        <a:p>
          <a:r>
            <a:rPr lang="hr-HR" dirty="0" smtClean="0"/>
            <a:t>Prijem ultrazvučnih valova</a:t>
          </a:r>
          <a:endParaRPr lang="en-GB" dirty="0"/>
        </a:p>
      </dgm:t>
    </dgm:pt>
    <dgm:pt modelId="{956AAB84-1B9A-46FD-84E5-A443CA27E1CD}" type="parTrans" cxnId="{9DC6716B-03EC-4D43-9B8C-9871FA30004D}">
      <dgm:prSet/>
      <dgm:spPr/>
      <dgm:t>
        <a:bodyPr/>
        <a:lstStyle/>
        <a:p>
          <a:endParaRPr lang="en-GB"/>
        </a:p>
      </dgm:t>
    </dgm:pt>
    <dgm:pt modelId="{C8B557A0-8D1B-4260-BEDB-9203E63C960E}" type="sibTrans" cxnId="{9DC6716B-03EC-4D43-9B8C-9871FA30004D}">
      <dgm:prSet/>
      <dgm:spPr/>
      <dgm:t>
        <a:bodyPr/>
        <a:lstStyle/>
        <a:p>
          <a:endParaRPr lang="en-GB"/>
        </a:p>
      </dgm:t>
    </dgm:pt>
    <dgm:pt modelId="{1A53745F-4601-4C47-BABE-740D0A4B7CF3}">
      <dgm:prSet phldrT="[Text]"/>
      <dgm:spPr/>
      <dgm:t>
        <a:bodyPr/>
        <a:lstStyle/>
        <a:p>
          <a:r>
            <a:rPr lang="hr-HR" dirty="0" smtClean="0"/>
            <a:t>Vrijeme obilaska vala </a:t>
          </a:r>
          <a:r>
            <a:rPr lang="de-DE" dirty="0" smtClean="0"/>
            <a:t>[</a:t>
          </a:r>
          <a:r>
            <a:rPr lang="el-GR" dirty="0" smtClean="0"/>
            <a:t>μ</a:t>
          </a:r>
          <a:r>
            <a:rPr lang="en-GB" dirty="0" smtClean="0"/>
            <a:t>s]</a:t>
          </a:r>
          <a:endParaRPr lang="en-GB" dirty="0"/>
        </a:p>
      </dgm:t>
    </dgm:pt>
    <dgm:pt modelId="{0CE9DAFE-BBFE-4361-9EB7-DAF06E147A1C}" type="parTrans" cxnId="{E49AE7BF-23D2-4874-9A86-9FCA29C4DD02}">
      <dgm:prSet/>
      <dgm:spPr/>
      <dgm:t>
        <a:bodyPr/>
        <a:lstStyle/>
        <a:p>
          <a:endParaRPr lang="en-GB"/>
        </a:p>
      </dgm:t>
    </dgm:pt>
    <dgm:pt modelId="{AA32AC86-688F-4BB7-B5E0-D0FB58F86E38}" type="sibTrans" cxnId="{E49AE7BF-23D2-4874-9A86-9FCA29C4DD02}">
      <dgm:prSet/>
      <dgm:spPr/>
      <dgm:t>
        <a:bodyPr/>
        <a:lstStyle/>
        <a:p>
          <a:endParaRPr lang="en-GB"/>
        </a:p>
      </dgm:t>
    </dgm:pt>
    <dgm:pt modelId="{88623F9A-37A3-4C68-964E-BBB5C55E80C1}">
      <dgm:prSet phldrT="[Text]"/>
      <dgm:spPr/>
      <dgm:t>
        <a:bodyPr/>
        <a:lstStyle/>
        <a:p>
          <a:r>
            <a:rPr lang="de-DE" dirty="0" err="1" smtClean="0"/>
            <a:t>Udaljenost</a:t>
          </a:r>
          <a:r>
            <a:rPr lang="de-DE" dirty="0" smtClean="0"/>
            <a:t> [cm]</a:t>
          </a:r>
          <a:endParaRPr lang="en-GB" dirty="0"/>
        </a:p>
      </dgm:t>
    </dgm:pt>
    <dgm:pt modelId="{40F9111B-25A0-4086-AF1F-538DEB35406E}" type="parTrans" cxnId="{09185425-05D8-40F2-B76B-9CD40D1888CB}">
      <dgm:prSet/>
      <dgm:spPr/>
      <dgm:t>
        <a:bodyPr/>
        <a:lstStyle/>
        <a:p>
          <a:endParaRPr lang="en-GB"/>
        </a:p>
      </dgm:t>
    </dgm:pt>
    <dgm:pt modelId="{5EF82684-0A1F-4CD2-9CD0-209408043CB1}" type="sibTrans" cxnId="{09185425-05D8-40F2-B76B-9CD40D1888CB}">
      <dgm:prSet/>
      <dgm:spPr/>
      <dgm:t>
        <a:bodyPr/>
        <a:lstStyle/>
        <a:p>
          <a:endParaRPr lang="en-GB"/>
        </a:p>
      </dgm:t>
    </dgm:pt>
    <dgm:pt modelId="{3293FDCD-D7E0-44D9-BC5C-86E0067E89F2}">
      <dgm:prSet phldrT="[Text]"/>
      <dgm:spPr/>
      <dgm:t>
        <a:bodyPr/>
        <a:lstStyle/>
        <a:p>
          <a:r>
            <a:rPr lang="hr-HR" dirty="0" smtClean="0"/>
            <a:t>Odbijanje vala od prepreke</a:t>
          </a:r>
          <a:endParaRPr lang="en-GB" dirty="0"/>
        </a:p>
      </dgm:t>
    </dgm:pt>
    <dgm:pt modelId="{B807FFCB-BA63-4DC9-8834-C9AA401932E7}" type="parTrans" cxnId="{BC172EA1-8D68-4F44-8918-7232CFAD5B18}">
      <dgm:prSet/>
      <dgm:spPr/>
      <dgm:t>
        <a:bodyPr/>
        <a:lstStyle/>
        <a:p>
          <a:endParaRPr lang="en-GB"/>
        </a:p>
      </dgm:t>
    </dgm:pt>
    <dgm:pt modelId="{702B9D1C-926A-4B85-8C7F-71B3AC036704}" type="sibTrans" cxnId="{BC172EA1-8D68-4F44-8918-7232CFAD5B18}">
      <dgm:prSet/>
      <dgm:spPr/>
      <dgm:t>
        <a:bodyPr/>
        <a:lstStyle/>
        <a:p>
          <a:endParaRPr lang="en-GB"/>
        </a:p>
      </dgm:t>
    </dgm:pt>
    <dgm:pt modelId="{D5B938AF-91CB-43C0-9449-E4BA4D50F334}">
      <dgm:prSet phldrT="[Text]"/>
      <dgm:spPr/>
      <dgm:t>
        <a:bodyPr/>
        <a:lstStyle/>
        <a:p>
          <a:r>
            <a:rPr lang="hr-HR" dirty="0" smtClean="0"/>
            <a:t>Emitiranje ultrazvučnih valova</a:t>
          </a:r>
          <a:endParaRPr lang="en-GB" dirty="0"/>
        </a:p>
      </dgm:t>
    </dgm:pt>
    <dgm:pt modelId="{388E7C29-BD38-44E2-A75B-E34FB54CC9CA}" type="parTrans" cxnId="{645F9CF3-B7C1-48A1-BADA-1B218706C32F}">
      <dgm:prSet/>
      <dgm:spPr/>
      <dgm:t>
        <a:bodyPr/>
        <a:lstStyle/>
        <a:p>
          <a:endParaRPr lang="en-GB"/>
        </a:p>
      </dgm:t>
    </dgm:pt>
    <dgm:pt modelId="{40803697-9E9E-4E9F-8E48-3D2D496202EB}" type="sibTrans" cxnId="{645F9CF3-B7C1-48A1-BADA-1B218706C32F}">
      <dgm:prSet/>
      <dgm:spPr/>
      <dgm:t>
        <a:bodyPr/>
        <a:lstStyle/>
        <a:p>
          <a:endParaRPr lang="en-GB"/>
        </a:p>
      </dgm:t>
    </dgm:pt>
    <dgm:pt modelId="{EF50E449-C998-4193-93A3-3FB4603743DF}" type="pres">
      <dgm:prSet presAssocID="{92E5097E-FBAA-449C-AD17-0B8D3FCD47E3}" presName="Name0" presStyleCnt="0">
        <dgm:presLayoutVars>
          <dgm:dir/>
          <dgm:animLvl val="lvl"/>
          <dgm:resizeHandles val="exact"/>
        </dgm:presLayoutVars>
      </dgm:prSet>
      <dgm:spPr/>
    </dgm:pt>
    <dgm:pt modelId="{6B4E7BC6-D219-4621-A3AB-96BC0CA89F08}" type="pres">
      <dgm:prSet presAssocID="{D5B938AF-91CB-43C0-9449-E4BA4D50F334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071295D-20DE-4B78-9FB8-701624F345C4}" type="pres">
      <dgm:prSet presAssocID="{40803697-9E9E-4E9F-8E48-3D2D496202EB}" presName="parTxOnlySpace" presStyleCnt="0"/>
      <dgm:spPr/>
    </dgm:pt>
    <dgm:pt modelId="{C691B734-033A-4C76-B6A3-8C280FB0548F}" type="pres">
      <dgm:prSet presAssocID="{3293FDCD-D7E0-44D9-BC5C-86E0067E89F2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41B588D-4534-46E2-8793-F63A5C66008A}" type="pres">
      <dgm:prSet presAssocID="{702B9D1C-926A-4B85-8C7F-71B3AC036704}" presName="parTxOnlySpace" presStyleCnt="0"/>
      <dgm:spPr/>
    </dgm:pt>
    <dgm:pt modelId="{A5AFD4B0-E51A-416B-8CF8-CA4EA384107E}" type="pres">
      <dgm:prSet presAssocID="{2F1A6F66-3A77-4A83-AA59-53E33087A0D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8818A7E-2C6C-41CA-877A-46545618B8C3}" type="pres">
      <dgm:prSet presAssocID="{C8B557A0-8D1B-4260-BEDB-9203E63C960E}" presName="parTxOnlySpace" presStyleCnt="0"/>
      <dgm:spPr/>
    </dgm:pt>
    <dgm:pt modelId="{26E3EC4D-C698-4C18-B2DA-3648E5563A02}" type="pres">
      <dgm:prSet presAssocID="{1A53745F-4601-4C47-BABE-740D0A4B7CF3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07FDC03-FEB6-451E-90E7-EDDA5C438385}" type="pres">
      <dgm:prSet presAssocID="{AA32AC86-688F-4BB7-B5E0-D0FB58F86E38}" presName="parTxOnlySpace" presStyleCnt="0"/>
      <dgm:spPr/>
    </dgm:pt>
    <dgm:pt modelId="{69804417-848A-4565-9F69-2B6B5D061F41}" type="pres">
      <dgm:prSet presAssocID="{88623F9A-37A3-4C68-964E-BBB5C55E80C1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4A64C12B-2851-4692-9520-F86C60B9AD6C}" type="presOf" srcId="{2F1A6F66-3A77-4A83-AA59-53E33087A0DB}" destId="{A5AFD4B0-E51A-416B-8CF8-CA4EA384107E}" srcOrd="0" destOrd="0" presId="urn:microsoft.com/office/officeart/2005/8/layout/chevron1"/>
    <dgm:cxn modelId="{E569C031-B706-4882-B2C4-734B7672F48C}" type="presOf" srcId="{3293FDCD-D7E0-44D9-BC5C-86E0067E89F2}" destId="{C691B734-033A-4C76-B6A3-8C280FB0548F}" srcOrd="0" destOrd="0" presId="urn:microsoft.com/office/officeart/2005/8/layout/chevron1"/>
    <dgm:cxn modelId="{9DC6716B-03EC-4D43-9B8C-9871FA30004D}" srcId="{92E5097E-FBAA-449C-AD17-0B8D3FCD47E3}" destId="{2F1A6F66-3A77-4A83-AA59-53E33087A0DB}" srcOrd="2" destOrd="0" parTransId="{956AAB84-1B9A-46FD-84E5-A443CA27E1CD}" sibTransId="{C8B557A0-8D1B-4260-BEDB-9203E63C960E}"/>
    <dgm:cxn modelId="{E49AE7BF-23D2-4874-9A86-9FCA29C4DD02}" srcId="{92E5097E-FBAA-449C-AD17-0B8D3FCD47E3}" destId="{1A53745F-4601-4C47-BABE-740D0A4B7CF3}" srcOrd="3" destOrd="0" parTransId="{0CE9DAFE-BBFE-4361-9EB7-DAF06E147A1C}" sibTransId="{AA32AC86-688F-4BB7-B5E0-D0FB58F86E38}"/>
    <dgm:cxn modelId="{645F9CF3-B7C1-48A1-BADA-1B218706C32F}" srcId="{92E5097E-FBAA-449C-AD17-0B8D3FCD47E3}" destId="{D5B938AF-91CB-43C0-9449-E4BA4D50F334}" srcOrd="0" destOrd="0" parTransId="{388E7C29-BD38-44E2-A75B-E34FB54CC9CA}" sibTransId="{40803697-9E9E-4E9F-8E48-3D2D496202EB}"/>
    <dgm:cxn modelId="{09185425-05D8-40F2-B76B-9CD40D1888CB}" srcId="{92E5097E-FBAA-449C-AD17-0B8D3FCD47E3}" destId="{88623F9A-37A3-4C68-964E-BBB5C55E80C1}" srcOrd="4" destOrd="0" parTransId="{40F9111B-25A0-4086-AF1F-538DEB35406E}" sibTransId="{5EF82684-0A1F-4CD2-9CD0-209408043CB1}"/>
    <dgm:cxn modelId="{BC172EA1-8D68-4F44-8918-7232CFAD5B18}" srcId="{92E5097E-FBAA-449C-AD17-0B8D3FCD47E3}" destId="{3293FDCD-D7E0-44D9-BC5C-86E0067E89F2}" srcOrd="1" destOrd="0" parTransId="{B807FFCB-BA63-4DC9-8834-C9AA401932E7}" sibTransId="{702B9D1C-926A-4B85-8C7F-71B3AC036704}"/>
    <dgm:cxn modelId="{AA944283-11BA-4D21-A3AA-8970BF49420E}" type="presOf" srcId="{88623F9A-37A3-4C68-964E-BBB5C55E80C1}" destId="{69804417-848A-4565-9F69-2B6B5D061F41}" srcOrd="0" destOrd="0" presId="urn:microsoft.com/office/officeart/2005/8/layout/chevron1"/>
    <dgm:cxn modelId="{9EA6E8BA-ABAB-4653-A064-435626766B16}" type="presOf" srcId="{1A53745F-4601-4C47-BABE-740D0A4B7CF3}" destId="{26E3EC4D-C698-4C18-B2DA-3648E5563A02}" srcOrd="0" destOrd="0" presId="urn:microsoft.com/office/officeart/2005/8/layout/chevron1"/>
    <dgm:cxn modelId="{C388E586-6900-45A0-9665-99ED44F8E596}" type="presOf" srcId="{92E5097E-FBAA-449C-AD17-0B8D3FCD47E3}" destId="{EF50E449-C998-4193-93A3-3FB4603743DF}" srcOrd="0" destOrd="0" presId="urn:microsoft.com/office/officeart/2005/8/layout/chevron1"/>
    <dgm:cxn modelId="{62EB4349-3EDC-4328-953E-8C4BDA250AC8}" type="presOf" srcId="{D5B938AF-91CB-43C0-9449-E4BA4D50F334}" destId="{6B4E7BC6-D219-4621-A3AB-96BC0CA89F08}" srcOrd="0" destOrd="0" presId="urn:microsoft.com/office/officeart/2005/8/layout/chevron1"/>
    <dgm:cxn modelId="{D0B54571-FAAE-452F-A9CA-57D048D62B7C}" type="presParOf" srcId="{EF50E449-C998-4193-93A3-3FB4603743DF}" destId="{6B4E7BC6-D219-4621-A3AB-96BC0CA89F08}" srcOrd="0" destOrd="0" presId="urn:microsoft.com/office/officeart/2005/8/layout/chevron1"/>
    <dgm:cxn modelId="{448F93D6-180C-4474-91D8-04C37133CF86}" type="presParOf" srcId="{EF50E449-C998-4193-93A3-3FB4603743DF}" destId="{F071295D-20DE-4B78-9FB8-701624F345C4}" srcOrd="1" destOrd="0" presId="urn:microsoft.com/office/officeart/2005/8/layout/chevron1"/>
    <dgm:cxn modelId="{54166778-6795-4E24-B401-0F61A2E7D7A5}" type="presParOf" srcId="{EF50E449-C998-4193-93A3-3FB4603743DF}" destId="{C691B734-033A-4C76-B6A3-8C280FB0548F}" srcOrd="2" destOrd="0" presId="urn:microsoft.com/office/officeart/2005/8/layout/chevron1"/>
    <dgm:cxn modelId="{4B8A3964-FA21-42F5-932E-3271A1001FE1}" type="presParOf" srcId="{EF50E449-C998-4193-93A3-3FB4603743DF}" destId="{E41B588D-4534-46E2-8793-F63A5C66008A}" srcOrd="3" destOrd="0" presId="urn:microsoft.com/office/officeart/2005/8/layout/chevron1"/>
    <dgm:cxn modelId="{418A4E3C-A102-43ED-8F3D-24D123C11657}" type="presParOf" srcId="{EF50E449-C998-4193-93A3-3FB4603743DF}" destId="{A5AFD4B0-E51A-416B-8CF8-CA4EA384107E}" srcOrd="4" destOrd="0" presId="urn:microsoft.com/office/officeart/2005/8/layout/chevron1"/>
    <dgm:cxn modelId="{3809F442-1D65-4EC6-9A16-65B726F669E3}" type="presParOf" srcId="{EF50E449-C998-4193-93A3-3FB4603743DF}" destId="{F8818A7E-2C6C-41CA-877A-46545618B8C3}" srcOrd="5" destOrd="0" presId="urn:microsoft.com/office/officeart/2005/8/layout/chevron1"/>
    <dgm:cxn modelId="{A2210B88-532E-4DB0-88DB-55AEDD21ADEE}" type="presParOf" srcId="{EF50E449-C998-4193-93A3-3FB4603743DF}" destId="{26E3EC4D-C698-4C18-B2DA-3648E5563A02}" srcOrd="6" destOrd="0" presId="urn:microsoft.com/office/officeart/2005/8/layout/chevron1"/>
    <dgm:cxn modelId="{51E81174-93A8-4538-ACE9-7DC2B93D0FD2}" type="presParOf" srcId="{EF50E449-C998-4193-93A3-3FB4603743DF}" destId="{607FDC03-FEB6-451E-90E7-EDDA5C438385}" srcOrd="7" destOrd="0" presId="urn:microsoft.com/office/officeart/2005/8/layout/chevron1"/>
    <dgm:cxn modelId="{C3D5170E-3464-4D36-A8F9-B078B01B6FAE}" type="presParOf" srcId="{EF50E449-C998-4193-93A3-3FB4603743DF}" destId="{69804417-848A-4565-9F69-2B6B5D061F41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B4E7BC6-D219-4621-A3AB-96BC0CA89F08}">
      <dsp:nvSpPr>
        <dsp:cNvPr id="0" name=""/>
        <dsp:cNvSpPr/>
      </dsp:nvSpPr>
      <dsp:spPr>
        <a:xfrm>
          <a:off x="1898" y="1606256"/>
          <a:ext cx="1689797" cy="6759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r-HR" sz="1400" kern="1200" dirty="0" smtClean="0"/>
            <a:t>Emitiranje ultrazvučnih valova</a:t>
          </a:r>
          <a:endParaRPr lang="en-GB" sz="1400" kern="1200" dirty="0"/>
        </a:p>
      </dsp:txBody>
      <dsp:txXfrm>
        <a:off x="1898" y="1606256"/>
        <a:ext cx="1689797" cy="675918"/>
      </dsp:txXfrm>
    </dsp:sp>
    <dsp:sp modelId="{C691B734-033A-4C76-B6A3-8C280FB0548F}">
      <dsp:nvSpPr>
        <dsp:cNvPr id="0" name=""/>
        <dsp:cNvSpPr/>
      </dsp:nvSpPr>
      <dsp:spPr>
        <a:xfrm>
          <a:off x="1522716" y="1606256"/>
          <a:ext cx="1689797" cy="6759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r-HR" sz="1400" kern="1200" dirty="0" smtClean="0"/>
            <a:t>Odbijanje vala od prepreke</a:t>
          </a:r>
          <a:endParaRPr lang="en-GB" sz="1400" kern="1200" dirty="0"/>
        </a:p>
      </dsp:txBody>
      <dsp:txXfrm>
        <a:off x="1522716" y="1606256"/>
        <a:ext cx="1689797" cy="675918"/>
      </dsp:txXfrm>
    </dsp:sp>
    <dsp:sp modelId="{A5AFD4B0-E51A-416B-8CF8-CA4EA384107E}">
      <dsp:nvSpPr>
        <dsp:cNvPr id="0" name=""/>
        <dsp:cNvSpPr/>
      </dsp:nvSpPr>
      <dsp:spPr>
        <a:xfrm>
          <a:off x="3043533" y="1606256"/>
          <a:ext cx="1689797" cy="6759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r-HR" sz="1400" kern="1200" dirty="0" smtClean="0"/>
            <a:t>Prijem ultrazvučnih valova</a:t>
          </a:r>
          <a:endParaRPr lang="en-GB" sz="1400" kern="1200" dirty="0"/>
        </a:p>
      </dsp:txBody>
      <dsp:txXfrm>
        <a:off x="3043533" y="1606256"/>
        <a:ext cx="1689797" cy="675918"/>
      </dsp:txXfrm>
    </dsp:sp>
    <dsp:sp modelId="{26E3EC4D-C698-4C18-B2DA-3648E5563A02}">
      <dsp:nvSpPr>
        <dsp:cNvPr id="0" name=""/>
        <dsp:cNvSpPr/>
      </dsp:nvSpPr>
      <dsp:spPr>
        <a:xfrm>
          <a:off x="4564350" y="1606256"/>
          <a:ext cx="1689797" cy="6759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r-HR" sz="1400" kern="1200" dirty="0" smtClean="0"/>
            <a:t>Vrijeme obilaska vala </a:t>
          </a:r>
          <a:r>
            <a:rPr lang="de-DE" sz="1400" kern="1200" dirty="0" smtClean="0"/>
            <a:t>[</a:t>
          </a:r>
          <a:r>
            <a:rPr lang="el-GR" sz="1400" kern="1200" dirty="0" smtClean="0"/>
            <a:t>μ</a:t>
          </a:r>
          <a:r>
            <a:rPr lang="en-GB" sz="1400" kern="1200" dirty="0" smtClean="0"/>
            <a:t>s]</a:t>
          </a:r>
          <a:endParaRPr lang="en-GB" sz="1400" kern="1200" dirty="0"/>
        </a:p>
      </dsp:txBody>
      <dsp:txXfrm>
        <a:off x="4564350" y="1606256"/>
        <a:ext cx="1689797" cy="675918"/>
      </dsp:txXfrm>
    </dsp:sp>
    <dsp:sp modelId="{69804417-848A-4565-9F69-2B6B5D061F41}">
      <dsp:nvSpPr>
        <dsp:cNvPr id="0" name=""/>
        <dsp:cNvSpPr/>
      </dsp:nvSpPr>
      <dsp:spPr>
        <a:xfrm>
          <a:off x="6085168" y="1606256"/>
          <a:ext cx="1689797" cy="6759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dirty="0" err="1" smtClean="0"/>
            <a:t>Udaljenost</a:t>
          </a:r>
          <a:r>
            <a:rPr lang="de-DE" sz="1400" kern="1200" dirty="0" smtClean="0"/>
            <a:t> [cm]</a:t>
          </a:r>
          <a:endParaRPr lang="en-GB" sz="1400" kern="1200" dirty="0"/>
        </a:p>
      </dsp:txBody>
      <dsp:txXfrm>
        <a:off x="6085168" y="1606256"/>
        <a:ext cx="1689797" cy="6759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D33CA-B3AF-4AB9-8AED-B77FB5FCEA7A}" type="datetimeFigureOut">
              <a:rPr lang="en-GB" smtClean="0"/>
              <a:pPr/>
              <a:t>18/07/2020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834572-614B-4912-BDDE-07993B943358}" type="slidenum">
              <a:rPr lang="en-GB" smtClean="0"/>
              <a:pPr/>
              <a:t>‹Nr.›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5CA27-FE30-4E38-98F6-E26C8A790C3F}" type="datetimeFigureOut">
              <a:rPr lang="en-GB" smtClean="0"/>
              <a:pPr/>
              <a:t>18/07/2020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9F1A6-6037-406B-A9A8-531FDA0F7153}" type="slidenum">
              <a:rPr lang="en-GB" smtClean="0"/>
              <a:pPr/>
              <a:t>‹Nr.›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9F1A6-6037-406B-A9A8-531FDA0F7153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2F48-A92C-4B45-B4DC-2B80B4C7D7A3}" type="datetime1">
              <a:rPr lang="hr-HR" smtClean="0"/>
              <a:pPr/>
              <a:t>18.7.2020.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810544" cy="365125"/>
          </a:xfrm>
        </p:spPr>
        <p:txBody>
          <a:bodyPr/>
          <a:lstStyle>
            <a:lvl1pPr>
              <a:defRPr lang="hr-HR" sz="1400" smtClean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4176464" cy="365125"/>
          </a:xfrm>
        </p:spPr>
        <p:txBody>
          <a:bodyPr/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876256" y="6356350"/>
            <a:ext cx="1810544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A856DD93-087F-443E-95B2-A9EF64A8957F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2274-FB85-4945-BC81-7B75876BC17F}" type="datetime1">
              <a:rPr lang="hr-HR" smtClean="0"/>
              <a:pPr/>
              <a:t>18.7.2020.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722C-D562-452B-A005-D9A5DCF51814}" type="datetime1">
              <a:rPr lang="hr-HR" smtClean="0"/>
              <a:pPr/>
              <a:t>18.7.2020.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8C84-BC85-4532-A483-23A133A3FC2C}" type="datetime1">
              <a:rPr lang="hr-HR" smtClean="0"/>
              <a:pPr/>
              <a:t>18.7.2020.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CF426-6091-4DA3-B854-5427562E079D}" type="datetime1">
              <a:rPr lang="hr-HR" smtClean="0"/>
              <a:pPr/>
              <a:t>18.7.2020.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73402-1DAE-45B0-8C8F-79334F331880}" type="datetime1">
              <a:rPr lang="hr-HR" smtClean="0"/>
              <a:pPr/>
              <a:t>18.7.2020.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9726-FBC7-41F7-84A3-4DA50E7B2082}" type="datetime1">
              <a:rPr lang="hr-HR" smtClean="0"/>
              <a:pPr/>
              <a:t>18.7.2020.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5E668-D3D4-438A-B3A0-648EB2B54E41}" type="datetime1">
              <a:rPr lang="hr-HR" smtClean="0"/>
              <a:pPr/>
              <a:t>18.7.2020.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7F38-C78A-42B3-8683-05838D0B8B0C}" type="datetime1">
              <a:rPr lang="hr-HR" smtClean="0"/>
              <a:pPr/>
              <a:t>18.7.2020.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6EBD-B01C-4038-94E0-C890CF1837B9}" type="datetime1">
              <a:rPr lang="hr-HR" smtClean="0"/>
              <a:pPr/>
              <a:t>18.7.2020.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6C402-76A0-464E-8FA1-3F74C185E0EE}" type="datetime1">
              <a:rPr lang="hr-HR" smtClean="0"/>
              <a:pPr/>
              <a:t>18.7.2020.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Fakultet elektrotehnike, strojarstva i brodogradnje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6DD93-087F-443E-95B2-A9EF64A8957F}" type="slidenum">
              <a:rPr lang="en-GB" smtClean="0"/>
              <a:pPr/>
              <a:t>‹Nr.›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cecaradlovacki.wordpress.com/2015/04/10/sta-je-pwm/" TargetMode="External"/><Relationship Id="rId3" Type="http://schemas.openxmlformats.org/officeDocument/2006/relationships/hyperlink" Target="https://fpisensors.com/difference-point-level-sensors-continuous-level-sensors/" TargetMode="External"/><Relationship Id="rId7" Type="http://schemas.openxmlformats.org/officeDocument/2006/relationships/hyperlink" Target="https://github.com/e-radionicacom/Croduino-Basic-Eagle-Files/blob/master/README.md" TargetMode="External"/><Relationship Id="rId2" Type="http://schemas.openxmlformats.org/officeDocument/2006/relationships/hyperlink" Target="https://www.fierceelectronics.com/components/a-dozen-ways-to-measure-fluid-level-and-how-they-wor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radionica.com/hr/croduino-basic3.html" TargetMode="External"/><Relationship Id="rId5" Type="http://schemas.openxmlformats.org/officeDocument/2006/relationships/hyperlink" Target="https://www.arduino.cc/en/pmwiki.php?n=Main/ArduinoBoardNano" TargetMode="External"/><Relationship Id="rId4" Type="http://schemas.openxmlformats.org/officeDocument/2006/relationships/hyperlink" Target="https://www.arduino.cc/en/Guide/Introduction" TargetMode="External"/><Relationship Id="rId9" Type="http://schemas.openxmlformats.org/officeDocument/2006/relationships/hyperlink" Target="https://www.arduino.cc/en/tutorial/PWM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nomotion.com/piezo-ceramic-motor-technology/piezoelectric-effect/" TargetMode="External"/><Relationship Id="rId3" Type="http://schemas.openxmlformats.org/officeDocument/2006/relationships/hyperlink" Target="https://arduinogetstarted.com/tutorials/arduino-serial-monitor" TargetMode="External"/><Relationship Id="rId7" Type="http://schemas.openxmlformats.org/officeDocument/2006/relationships/hyperlink" Target="https://www.enciklopedija.hr/Natuknica.aspx?ID=63120" TargetMode="External"/><Relationship Id="rId2" Type="http://schemas.openxmlformats.org/officeDocument/2006/relationships/hyperlink" Target="https://www.instructables.com/id/HOW-TO-use-the-ARDUINO-SERIAL-MONITO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learningaboutelectronics.com/Articles/Pull-up-and-pull-down-resistors.php" TargetMode="External"/><Relationship Id="rId5" Type="http://schemas.openxmlformats.org/officeDocument/2006/relationships/hyperlink" Target="https://e-radionica.com/hr/blog/2015/08/19/pull-up-pull-down-otpornik/" TargetMode="External"/><Relationship Id="rId10" Type="http://schemas.openxmlformats.org/officeDocument/2006/relationships/hyperlink" Target="https://www.enciklopedija.hr/natuknica.aspx?ID=38046" TargetMode="External"/><Relationship Id="rId4" Type="http://schemas.openxmlformats.org/officeDocument/2006/relationships/hyperlink" Target="https://www.arduino.cc/en/Tutorial/DigitalPins" TargetMode="External"/><Relationship Id="rId9" Type="http://schemas.openxmlformats.org/officeDocument/2006/relationships/hyperlink" Target="https://alchemytechnology.org/f/piezoelectric-effect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ainkart.com/article/Magnetostriction-Method--Principle,-Construction,-working,-Advantages-and-Limitations_6871/" TargetMode="External"/><Relationship Id="rId7" Type="http://schemas.openxmlformats.org/officeDocument/2006/relationships/hyperlink" Target="http://davorfranjkovic.tripod.com/AERODINAMIKA-VISOKIH-BRZINA/BRZINA-ZVUKA.PDF" TargetMode="External"/><Relationship Id="rId2" Type="http://schemas.openxmlformats.org/officeDocument/2006/relationships/hyperlink" Target="https://www.slideshare.net/SatheesPhysics/ultrasonic-wav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ques10.com/p/10235/explain-piezoelectric-oscillator-to-produce-usw/" TargetMode="External"/><Relationship Id="rId5" Type="http://schemas.openxmlformats.org/officeDocument/2006/relationships/hyperlink" Target="http://www.vidyarthiplus.in/2011/11/engineering-physics-1-ultrasonics-piezo.html" TargetMode="External"/><Relationship Id="rId4" Type="http://schemas.openxmlformats.org/officeDocument/2006/relationships/hyperlink" Target="https://www.enciklopedija.hr/natuknica.aspx?ID=17672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olytechnichub.com/advantages-disadvantages-ultrasonic-level-measurement/" TargetMode="External"/><Relationship Id="rId3" Type="http://schemas.openxmlformats.org/officeDocument/2006/relationships/hyperlink" Target="https://www.enciklopedija.hr/natuknica.aspx?ID=67594" TargetMode="External"/><Relationship Id="rId7" Type="http://schemas.openxmlformats.org/officeDocument/2006/relationships/hyperlink" Target="https://www.makerguides.com/hc-sr04-arduino-tutorial/" TargetMode="External"/><Relationship Id="rId2" Type="http://schemas.openxmlformats.org/officeDocument/2006/relationships/hyperlink" Target="https://physics.stackexchange.com/questions/46705/how-to-relate-speed-of-sound-with-relative-humidit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ponents101.com/ultrasonic-sensor-working-pinout-datasheet" TargetMode="External"/><Relationship Id="rId5" Type="http://schemas.openxmlformats.org/officeDocument/2006/relationships/hyperlink" Target="https://chinese-electronics-products-tested.blogspot.com/p/hc-sr04-ultrasonic-module-tested.html" TargetMode="External"/><Relationship Id="rId4" Type="http://schemas.openxmlformats.org/officeDocument/2006/relationships/hyperlink" Target="https://cdn.sparkfun.com/datasheets/Sensors/Proximity/HCSR04.pdf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circuits4you.com/2016/05/13/water-level-measurement-arduino/" TargetMode="External"/><Relationship Id="rId3" Type="http://schemas.openxmlformats.org/officeDocument/2006/relationships/hyperlink" Target="https://deacademic.com/dic.nsf/dewiki/743184" TargetMode="External"/><Relationship Id="rId7" Type="http://schemas.openxmlformats.org/officeDocument/2006/relationships/hyperlink" Target="https://glossary.periodni.com/glosar.php?hr=relativna+gusto%C4%87a" TargetMode="External"/><Relationship Id="rId2" Type="http://schemas.openxmlformats.org/officeDocument/2006/relationships/hyperlink" Target="https://www.enciklopedija.hr/Natuknica.aspx?ID=1500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ordpress.codewrite.co.uk/pic/2014/01/21/cap-meter-with-arduino-uno/index.html" TargetMode="External"/><Relationship Id="rId5" Type="http://schemas.openxmlformats.org/officeDocument/2006/relationships/hyperlink" Target="https://wordpress.codewrite.co.uk/pic/2014/01/25/capacitance-meter-mk-ii/" TargetMode="External"/><Relationship Id="rId4" Type="http://schemas.openxmlformats.org/officeDocument/2006/relationships/hyperlink" Target="http://hyperphysics.phy-astr.gsu.edu/hbase/electric/elecyl.html" TargetMode="External"/><Relationship Id="rId9" Type="http://schemas.openxmlformats.org/officeDocument/2006/relationships/hyperlink" Target="https://www.nxp.com/docs/en/data-sheet/MPX5010.pdf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/>
          <p:cNvSpPr txBox="1"/>
          <p:nvPr/>
        </p:nvSpPr>
        <p:spPr>
          <a:xfrm>
            <a:off x="2123728" y="539388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smtClean="0">
                <a:solidFill>
                  <a:schemeClr val="bg1">
                    <a:lumMod val="50000"/>
                  </a:schemeClr>
                </a:solidFill>
              </a:rPr>
              <a:t>Fakultet elektrotehnike, strojarstva i brodogradnje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 smtClean="0"/>
              <a:t>Sustav za mjerenje razine tekućine</a:t>
            </a:r>
            <a:endParaRPr lang="en-GB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r"/>
            <a:r>
              <a:rPr lang="hr-HR" dirty="0" smtClean="0"/>
              <a:t>Mentor: </a:t>
            </a:r>
          </a:p>
          <a:p>
            <a:pPr algn="r"/>
            <a:r>
              <a:rPr lang="hr-HR" dirty="0" smtClean="0"/>
              <a:t>doc. dr. sc. Duje Čoko</a:t>
            </a:r>
          </a:p>
          <a:p>
            <a:pPr algn="r"/>
            <a:endParaRPr lang="hr-HR" dirty="0" smtClean="0"/>
          </a:p>
          <a:p>
            <a:pPr algn="r"/>
            <a:r>
              <a:rPr lang="hr-HR" dirty="0" smtClean="0"/>
              <a:t>Student: </a:t>
            </a:r>
          </a:p>
          <a:p>
            <a:pPr algn="r"/>
            <a:r>
              <a:rPr lang="hr-HR" dirty="0" smtClean="0"/>
              <a:t>Robert Blaškić</a:t>
            </a:r>
            <a:endParaRPr lang="en-GB" dirty="0"/>
          </a:p>
        </p:txBody>
      </p:sp>
      <p:sp>
        <p:nvSpPr>
          <p:cNvPr id="5" name="Textfeld 4"/>
          <p:cNvSpPr txBox="1"/>
          <p:nvPr/>
        </p:nvSpPr>
        <p:spPr>
          <a:xfrm>
            <a:off x="2699792" y="251356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smtClean="0">
                <a:solidFill>
                  <a:schemeClr val="bg1">
                    <a:lumMod val="50000"/>
                  </a:schemeClr>
                </a:solidFill>
              </a:rPr>
              <a:t>Sveučilište u Splitu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" name="Grafik 14" descr="UNIS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1471" y="188640"/>
            <a:ext cx="938201" cy="792088"/>
          </a:xfrm>
          <a:prstGeom prst="rect">
            <a:avLst/>
          </a:prstGeom>
        </p:spPr>
      </p:pic>
      <p:pic>
        <p:nvPicPr>
          <p:cNvPr id="16" name="Grafik 15" descr="FESB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96336" y="332656"/>
            <a:ext cx="1171189" cy="50405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Sadržaj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hr-HR" sz="2800" dirty="0" smtClean="0"/>
              <a:t>Uvod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800" dirty="0" smtClean="0"/>
              <a:t>Praktični dio završnog rada</a:t>
            </a:r>
          </a:p>
          <a:p>
            <a:pPr lvl="1">
              <a:buFont typeface="Arial" pitchFamily="34" charset="0"/>
              <a:buChar char="•"/>
            </a:pPr>
            <a:r>
              <a:rPr lang="hr-HR" sz="2400" dirty="0" smtClean="0"/>
              <a:t>Ultrazvučna mjerna metoda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800" dirty="0" smtClean="0"/>
              <a:t>Teorijski dio završnog rada</a:t>
            </a:r>
          </a:p>
          <a:p>
            <a:pPr lvl="1">
              <a:buFont typeface="Arial" pitchFamily="34" charset="0"/>
              <a:buChar char="•"/>
            </a:pPr>
            <a:r>
              <a:rPr lang="hr-HR" sz="2400" dirty="0" smtClean="0"/>
              <a:t>Kapacitivna mjerna metoda</a:t>
            </a:r>
          </a:p>
          <a:p>
            <a:pPr lvl="1">
              <a:buFont typeface="Arial" pitchFamily="34" charset="0"/>
              <a:buChar char="•"/>
            </a:pPr>
            <a:r>
              <a:rPr lang="hr-HR" sz="2400" dirty="0" smtClean="0"/>
              <a:t>Hidrostatska mjerna metoda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800" dirty="0" smtClean="0"/>
              <a:t>Zaključak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800" dirty="0" smtClean="0"/>
              <a:t>Literatura</a:t>
            </a:r>
            <a:endParaRPr lang="en-GB" sz="28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BD12C-6C2B-4741-9905-C5B3B53B0EFF}" type="datetime1">
              <a:rPr lang="hr-HR" smtClean="0"/>
              <a:pPr/>
              <a:t>18.7.2020.</a:t>
            </a:fld>
            <a:endParaRPr lang="en-GB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 smtClean="0"/>
              <a:t>Fakultet</a:t>
            </a:r>
            <a:r>
              <a:rPr lang="en-GB" dirty="0" smtClean="0"/>
              <a:t> </a:t>
            </a:r>
            <a:r>
              <a:rPr lang="en-GB" dirty="0" err="1" smtClean="0"/>
              <a:t>elektrotehnike</a:t>
            </a:r>
            <a:r>
              <a:rPr lang="en-GB" dirty="0" smtClean="0"/>
              <a:t>, </a:t>
            </a:r>
            <a:r>
              <a:rPr lang="en-GB" dirty="0" err="1" smtClean="0"/>
              <a:t>strojarstva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brodogradnje</a:t>
            </a:r>
            <a:endParaRPr lang="en-GB" dirty="0"/>
          </a:p>
        </p:txBody>
      </p:sp>
      <p:pic>
        <p:nvPicPr>
          <p:cNvPr id="7" name="Grafik 6" descr="arduino-uno-rev3-microcontroller-board-atmega328-a000066-30741-1063-600x600xA.jpg"/>
          <p:cNvPicPr>
            <a:picLocks noChangeAspect="1"/>
          </p:cNvPicPr>
          <p:nvPr/>
        </p:nvPicPr>
        <p:blipFill>
          <a:blip r:embed="rId3" cstate="print"/>
          <a:srcRect r="32455"/>
          <a:stretch>
            <a:fillRect/>
          </a:stretch>
        </p:blipFill>
        <p:spPr>
          <a:xfrm>
            <a:off x="6084168" y="2060848"/>
            <a:ext cx="3059832" cy="339756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Uvod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000" dirty="0" smtClean="0"/>
              <a:t>Razvoj potaknut od današnjih industrijskih standarda</a:t>
            </a:r>
          </a:p>
          <a:p>
            <a:r>
              <a:rPr lang="hr-HR" sz="2000" dirty="0" smtClean="0"/>
              <a:t>Klasifikacija raznih mjernih metoda:</a:t>
            </a:r>
          </a:p>
          <a:p>
            <a:pPr lvl="1">
              <a:buFont typeface="Arial" pitchFamily="34" charset="0"/>
              <a:buChar char="•"/>
            </a:pPr>
            <a:r>
              <a:rPr lang="hr-HR" sz="2000" b="1" dirty="0" smtClean="0"/>
              <a:t>Općenita</a:t>
            </a:r>
            <a:r>
              <a:rPr lang="hr-HR" sz="2000" dirty="0" smtClean="0"/>
              <a:t>: diskretne ili kontinuirane</a:t>
            </a:r>
          </a:p>
          <a:p>
            <a:pPr lvl="1">
              <a:buFont typeface="Arial" pitchFamily="34" charset="0"/>
              <a:buChar char="•"/>
            </a:pPr>
            <a:r>
              <a:rPr lang="hr-HR" sz="2000" dirty="0" smtClean="0"/>
              <a:t>U</a:t>
            </a:r>
            <a:r>
              <a:rPr lang="hr-HR" sz="2000" b="1" dirty="0" smtClean="0"/>
              <a:t> industriji </a:t>
            </a:r>
            <a:r>
              <a:rPr lang="hr-HR" sz="2000" dirty="0" smtClean="0"/>
              <a:t>na temelju situacije u kojoj</a:t>
            </a:r>
          </a:p>
          <a:p>
            <a:pPr lvl="1">
              <a:buNone/>
            </a:pPr>
            <a:r>
              <a:rPr lang="hr-HR" sz="2000" dirty="0"/>
              <a:t>	</a:t>
            </a:r>
            <a:r>
              <a:rPr lang="hr-HR" sz="2000" dirty="0" smtClean="0"/>
              <a:t>se primjenjuju – temperatura, tlak, </a:t>
            </a:r>
          </a:p>
          <a:p>
            <a:pPr lvl="1">
              <a:buNone/>
            </a:pPr>
            <a:r>
              <a:rPr lang="hr-HR" sz="2000" dirty="0"/>
              <a:t>	</a:t>
            </a:r>
            <a:r>
              <a:rPr lang="hr-HR" sz="2000" dirty="0" smtClean="0"/>
              <a:t>mjerni opseg...</a:t>
            </a:r>
          </a:p>
          <a:p>
            <a:r>
              <a:rPr lang="hr-HR" sz="2000" b="1" dirty="0" smtClean="0"/>
              <a:t>Arduino </a:t>
            </a:r>
          </a:p>
          <a:p>
            <a:pPr lvl="1">
              <a:buFont typeface="Arial" pitchFamily="34" charset="0"/>
              <a:buChar char="•"/>
            </a:pPr>
            <a:r>
              <a:rPr lang="hr-HR" sz="2000" dirty="0" smtClean="0"/>
              <a:t>Open-source</a:t>
            </a:r>
          </a:p>
          <a:p>
            <a:pPr lvl="1">
              <a:buFont typeface="Arial" pitchFamily="34" charset="0"/>
              <a:buChar char="•"/>
            </a:pPr>
            <a:r>
              <a:rPr lang="hr-HR" sz="2000" dirty="0" smtClean="0"/>
              <a:t>Niska cijena</a:t>
            </a:r>
          </a:p>
          <a:p>
            <a:pPr lvl="1">
              <a:buFont typeface="Arial" pitchFamily="34" charset="0"/>
              <a:buChar char="•"/>
            </a:pPr>
            <a:r>
              <a:rPr lang="hr-HR" sz="2000" dirty="0" smtClean="0"/>
              <a:t>Cross-platform podrška</a:t>
            </a:r>
          </a:p>
          <a:p>
            <a:r>
              <a:rPr lang="hr-HR" sz="2000" dirty="0" smtClean="0"/>
              <a:t>Korišteni mehanizmi – PWM, Serial monitor, </a:t>
            </a:r>
          </a:p>
          <a:p>
            <a:pPr>
              <a:buNone/>
            </a:pPr>
            <a:r>
              <a:rPr lang="hr-HR" sz="2000" dirty="0"/>
              <a:t>	</a:t>
            </a:r>
            <a:r>
              <a:rPr lang="hr-HR" sz="2000" dirty="0" smtClean="0"/>
              <a:t>Ulazno/Izlazni pinovi, Pull-up otpornik...</a:t>
            </a:r>
          </a:p>
          <a:p>
            <a:pPr lvl="1">
              <a:buFont typeface="Arial" pitchFamily="34" charset="0"/>
              <a:buChar char="•"/>
            </a:pPr>
            <a:endParaRPr lang="hr-HR" dirty="0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6888-343F-4856-81D6-448E9AACD6DA}" type="datetime1">
              <a:rPr lang="hr-HR" smtClean="0"/>
              <a:pPr/>
              <a:t>18.7.2020.</a:t>
            </a:fld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/>
          </a:p>
        </p:txBody>
      </p:sp>
      <p:pic>
        <p:nvPicPr>
          <p:cNvPr id="7" name="Grafik 6" descr="JlnjFPQvxm0WG8N4JoC1Cjl72eJkfbmt4t8yenImKBVvK0kTmF0xjctABnaLJIm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92080" y="3212976"/>
            <a:ext cx="3125654" cy="2088232"/>
          </a:xfrm>
          <a:prstGeom prst="rect">
            <a:avLst/>
          </a:prstGeom>
        </p:spPr>
      </p:pic>
      <p:sp>
        <p:nvSpPr>
          <p:cNvPr id="9" name="Rechteck 8"/>
          <p:cNvSpPr/>
          <p:nvPr/>
        </p:nvSpPr>
        <p:spPr>
          <a:xfrm>
            <a:off x="1259632" y="4221088"/>
            <a:ext cx="1368152" cy="288032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" name="Gerade Verbindung mit Pfeil 10"/>
          <p:cNvCxnSpPr/>
          <p:nvPr/>
        </p:nvCxnSpPr>
        <p:spPr>
          <a:xfrm>
            <a:off x="2987824" y="4365104"/>
            <a:ext cx="2160240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Ultrazvučna mjerna metoda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b="1" dirty="0" err="1" smtClean="0"/>
              <a:t>Ultraz</a:t>
            </a:r>
            <a:r>
              <a:rPr lang="hr-HR" sz="2000" b="1" dirty="0" smtClean="0"/>
              <a:t>v</a:t>
            </a:r>
            <a:r>
              <a:rPr lang="de-DE" sz="2000" b="1" dirty="0" err="1" smtClean="0"/>
              <a:t>uk</a:t>
            </a:r>
            <a:r>
              <a:rPr lang="de-DE" sz="2000" b="1" dirty="0" smtClean="0"/>
              <a:t> </a:t>
            </a:r>
            <a:r>
              <a:rPr lang="de-DE" sz="2000" dirty="0" smtClean="0">
                <a:sym typeface="Wingdings" pitchFamily="2" charset="2"/>
              </a:rPr>
              <a:t>– </a:t>
            </a:r>
            <a:r>
              <a:rPr lang="de-DE" sz="2000" dirty="0" err="1" smtClean="0">
                <a:sym typeface="Wingdings" pitchFamily="2" charset="2"/>
              </a:rPr>
              <a:t>zvu</a:t>
            </a:r>
            <a:r>
              <a:rPr lang="hr-HR" sz="2000" dirty="0" smtClean="0">
                <a:sym typeface="Wingdings" pitchFamily="2" charset="2"/>
              </a:rPr>
              <a:t>čni valovi frekvencije iznad 20kHz</a:t>
            </a:r>
          </a:p>
          <a:p>
            <a:r>
              <a:rPr lang="hr-HR" sz="2000" dirty="0" smtClean="0">
                <a:sym typeface="Wingdings" pitchFamily="2" charset="2"/>
              </a:rPr>
              <a:t>Pojavljuje se uz zvučne valove ili se proizvodi </a:t>
            </a:r>
            <a:r>
              <a:rPr lang="hr-HR" sz="2000" b="1" dirty="0" smtClean="0">
                <a:sym typeface="Wingdings" pitchFamily="2" charset="2"/>
              </a:rPr>
              <a:t>ultrazvučnim generatorima</a:t>
            </a:r>
          </a:p>
          <a:p>
            <a:r>
              <a:rPr lang="hr-HR" sz="2000" b="1" dirty="0" smtClean="0">
                <a:sym typeface="Wingdings" pitchFamily="2" charset="2"/>
              </a:rPr>
              <a:t>Generatori</a:t>
            </a:r>
            <a:r>
              <a:rPr lang="hr-HR" sz="2000" dirty="0" smtClean="0">
                <a:sym typeface="Wingdings" pitchFamily="2" charset="2"/>
              </a:rPr>
              <a:t> = pretvorba drugih oblika energije u energiju ultrazvučnih valova (</a:t>
            </a:r>
            <a:r>
              <a:rPr lang="hr-HR" sz="2000" b="1" dirty="0" smtClean="0">
                <a:sym typeface="Wingdings" pitchFamily="2" charset="2"/>
              </a:rPr>
              <a:t>Piezoelektrični učinak</a:t>
            </a:r>
            <a:r>
              <a:rPr lang="hr-HR" sz="2000" dirty="0" smtClean="0">
                <a:sym typeface="Wingdings" pitchFamily="2" charset="2"/>
              </a:rPr>
              <a:t>)</a:t>
            </a:r>
          </a:p>
          <a:p>
            <a:r>
              <a:rPr lang="hr-HR" sz="2000" dirty="0" smtClean="0">
                <a:sym typeface="Wingdings" pitchFamily="2" charset="2"/>
              </a:rPr>
              <a:t>Magnetostrikcija, elektrostrikcija, ...</a:t>
            </a:r>
          </a:p>
          <a:p>
            <a:r>
              <a:rPr lang="hr-HR" sz="2000" dirty="0" smtClean="0">
                <a:sym typeface="Wingdings" pitchFamily="2" charset="2"/>
              </a:rPr>
              <a:t>Brzina zvuka ovisi o svojstvima</a:t>
            </a:r>
          </a:p>
          <a:p>
            <a:pPr>
              <a:buNone/>
            </a:pPr>
            <a:r>
              <a:rPr lang="hr-HR" sz="2000" dirty="0">
                <a:sym typeface="Wingdings" pitchFamily="2" charset="2"/>
              </a:rPr>
              <a:t>	</a:t>
            </a:r>
            <a:r>
              <a:rPr lang="hr-HR" sz="2000" dirty="0" smtClean="0">
                <a:sym typeface="Wingdings" pitchFamily="2" charset="2"/>
              </a:rPr>
              <a:t>medija (</a:t>
            </a:r>
            <a:r>
              <a:rPr lang="hr-HR" sz="2000" b="1" dirty="0" smtClean="0">
                <a:sym typeface="Wingdings" pitchFamily="2" charset="2"/>
              </a:rPr>
              <a:t>temperatura</a:t>
            </a:r>
            <a:r>
              <a:rPr lang="hr-HR" sz="2000" dirty="0" smtClean="0">
                <a:sym typeface="Wingdings" pitchFamily="2" charset="2"/>
              </a:rPr>
              <a:t>, relativna</a:t>
            </a:r>
          </a:p>
          <a:p>
            <a:pPr>
              <a:buNone/>
            </a:pPr>
            <a:r>
              <a:rPr lang="hr-HR" sz="2000" dirty="0">
                <a:sym typeface="Wingdings" pitchFamily="2" charset="2"/>
              </a:rPr>
              <a:t> </a:t>
            </a:r>
            <a:r>
              <a:rPr lang="hr-HR" sz="2000" dirty="0" smtClean="0">
                <a:sym typeface="Wingdings" pitchFamily="2" charset="2"/>
              </a:rPr>
              <a:t>    	vlaga, struktura medija)</a:t>
            </a:r>
          </a:p>
          <a:p>
            <a:r>
              <a:rPr lang="hr-HR" sz="2000" dirty="0" smtClean="0">
                <a:sym typeface="Wingdings" pitchFamily="2" charset="2"/>
              </a:rPr>
              <a:t>U suhom zraku temperature 20 °C</a:t>
            </a:r>
          </a:p>
          <a:p>
            <a:pPr>
              <a:buNone/>
            </a:pPr>
            <a:r>
              <a:rPr lang="hr-HR" sz="2000" dirty="0">
                <a:sym typeface="Wingdings" pitchFamily="2" charset="2"/>
              </a:rPr>
              <a:t>	</a:t>
            </a:r>
            <a:r>
              <a:rPr lang="hr-HR" sz="2000" dirty="0" smtClean="0">
                <a:sym typeface="Wingdings" pitchFamily="2" charset="2"/>
              </a:rPr>
              <a:t>iznosi </a:t>
            </a:r>
            <a:r>
              <a:rPr lang="hr-HR" sz="2000" b="1" dirty="0" smtClean="0">
                <a:sym typeface="Wingdings" pitchFamily="2" charset="2"/>
              </a:rPr>
              <a:t>343 m/s </a:t>
            </a:r>
            <a:r>
              <a:rPr lang="hr-HR" sz="2000" dirty="0" smtClean="0">
                <a:sym typeface="Wingdings" pitchFamily="2" charset="2"/>
              </a:rPr>
              <a:t>(</a:t>
            </a:r>
            <a:r>
              <a:rPr lang="hr-HR" sz="2000" b="1" dirty="0" smtClean="0">
                <a:sym typeface="Wingdings" pitchFamily="2" charset="2"/>
              </a:rPr>
              <a:t>1235 km/h</a:t>
            </a:r>
            <a:r>
              <a:rPr lang="hr-HR" sz="2000" dirty="0" smtClean="0">
                <a:sym typeface="Wingdings" pitchFamily="2" charset="2"/>
              </a:rPr>
              <a:t>)</a:t>
            </a:r>
          </a:p>
          <a:p>
            <a:endParaRPr lang="hr-HR" sz="2800" dirty="0" smtClean="0">
              <a:sym typeface="Wingdings" pitchFamily="2" charset="2"/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7" name="Grafik 6" descr="piezoelektrica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80554" y="3429000"/>
            <a:ext cx="3787580" cy="194421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Ultrazvučna mjerna metoda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000" b="1" dirty="0" smtClean="0"/>
              <a:t>Senzor HC-SR04</a:t>
            </a:r>
          </a:p>
          <a:p>
            <a:r>
              <a:rPr lang="hr-HR" sz="2000" dirty="0" smtClean="0"/>
              <a:t>Preko </a:t>
            </a:r>
            <a:r>
              <a:rPr lang="hr-HR" sz="2000" b="1" dirty="0" smtClean="0"/>
              <a:t>T</a:t>
            </a:r>
            <a:r>
              <a:rPr lang="hr-HR" sz="2000" dirty="0" smtClean="0"/>
              <a:t>ransmittera emitira ultrazvučne valove</a:t>
            </a:r>
            <a:endParaRPr lang="hr-HR" sz="2000" dirty="0"/>
          </a:p>
          <a:p>
            <a:r>
              <a:rPr lang="hr-HR" sz="2000" dirty="0" smtClean="0"/>
              <a:t>Valovi se šire kroz zrak (sredstvo) brzinom zvuka</a:t>
            </a:r>
          </a:p>
          <a:p>
            <a:r>
              <a:rPr lang="hr-HR" sz="2000" dirty="0" smtClean="0">
                <a:solidFill>
                  <a:srgbClr val="FF0000"/>
                </a:solidFill>
              </a:rPr>
              <a:t>POČETNA KALIBRACIJA </a:t>
            </a:r>
            <a:r>
              <a:rPr lang="hr-HR" sz="2000" dirty="0" smtClean="0"/>
              <a:t>= senzor DHT11 (</a:t>
            </a:r>
            <a:r>
              <a:rPr lang="hr-HR" sz="2000" b="1" dirty="0" smtClean="0"/>
              <a:t>temperatura</a:t>
            </a:r>
            <a:r>
              <a:rPr lang="hr-HR" sz="2000" dirty="0" smtClean="0"/>
              <a:t>)</a:t>
            </a:r>
          </a:p>
          <a:p>
            <a:r>
              <a:rPr lang="hr-HR" sz="2000" dirty="0" smtClean="0"/>
              <a:t>.		       (brzina zvuka)</a:t>
            </a:r>
          </a:p>
          <a:p>
            <a:r>
              <a:rPr lang="hr-HR" sz="2000" dirty="0" smtClean="0"/>
              <a:t>Rast od 0.6 m/s po </a:t>
            </a:r>
            <a:r>
              <a:rPr lang="hr-HR" sz="2000" dirty="0" smtClean="0">
                <a:sym typeface="Wingdings" pitchFamily="2" charset="2"/>
              </a:rPr>
              <a:t>°C </a:t>
            </a:r>
          </a:p>
          <a:p>
            <a:pPr>
              <a:buNone/>
            </a:pPr>
            <a:r>
              <a:rPr lang="hr-HR" sz="2000" dirty="0">
                <a:sym typeface="Wingdings" pitchFamily="2" charset="2"/>
              </a:rPr>
              <a:t>	</a:t>
            </a:r>
            <a:r>
              <a:rPr lang="hr-HR" sz="2000" dirty="0" smtClean="0">
                <a:sym typeface="Wingdings" pitchFamily="2" charset="2"/>
              </a:rPr>
              <a:t>(kinetička – molekularna teorija)</a:t>
            </a:r>
          </a:p>
          <a:p>
            <a:r>
              <a:rPr lang="hr-HR" sz="2000" dirty="0" smtClean="0">
                <a:sym typeface="Wingdings" pitchFamily="2" charset="2"/>
              </a:rPr>
              <a:t>Preko </a:t>
            </a:r>
            <a:r>
              <a:rPr lang="hr-HR" sz="2000" b="1" dirty="0" smtClean="0">
                <a:sym typeface="Wingdings" pitchFamily="2" charset="2"/>
              </a:rPr>
              <a:t>R</a:t>
            </a:r>
            <a:r>
              <a:rPr lang="hr-HR" sz="2000" dirty="0" smtClean="0">
                <a:sym typeface="Wingdings" pitchFamily="2" charset="2"/>
              </a:rPr>
              <a:t>eceivera prima reflektirane ultrazvučne valove</a:t>
            </a:r>
          </a:p>
          <a:p>
            <a:r>
              <a:rPr lang="hr-HR" sz="2000" dirty="0" smtClean="0">
                <a:sym typeface="Wingdings" pitchFamily="2" charset="2"/>
              </a:rPr>
              <a:t>Izlaz senzora je </a:t>
            </a:r>
            <a:r>
              <a:rPr lang="hr-HR" sz="2000" b="1" dirty="0" smtClean="0">
                <a:sym typeface="Wingdings" pitchFamily="2" charset="2"/>
              </a:rPr>
              <a:t>vremenski interval</a:t>
            </a:r>
            <a:r>
              <a:rPr lang="hr-HR" sz="2000" dirty="0" smtClean="0">
                <a:sym typeface="Wingdings" pitchFamily="2" charset="2"/>
              </a:rPr>
              <a:t>  </a:t>
            </a:r>
            <a:r>
              <a:rPr lang="hr-HR" sz="2000" b="1" dirty="0" smtClean="0">
                <a:sym typeface="Wingdings" pitchFamily="2" charset="2"/>
              </a:rPr>
              <a:t>udaljenost</a:t>
            </a:r>
          </a:p>
          <a:p>
            <a:r>
              <a:rPr lang="hr-HR" sz="2000" b="1" dirty="0" smtClean="0">
                <a:sym typeface="Wingdings" pitchFamily="2" charset="2"/>
              </a:rPr>
              <a:t>Udaljenost</a:t>
            </a:r>
            <a:r>
              <a:rPr lang="hr-HR" sz="2000" dirty="0" smtClean="0">
                <a:sym typeface="Wingdings" pitchFamily="2" charset="2"/>
              </a:rPr>
              <a:t> kao funkcija izmjerenog vremena:</a:t>
            </a:r>
          </a:p>
          <a:p>
            <a:endParaRPr lang="hr-HR" sz="2400" dirty="0" smtClean="0"/>
          </a:p>
          <a:p>
            <a:endParaRPr lang="hr-HR" sz="2400" dirty="0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7" name="Grafik 6" descr="fromulazatemperaturu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7585" y="3091738"/>
            <a:ext cx="1944216" cy="337262"/>
          </a:xfrm>
          <a:prstGeom prst="rect">
            <a:avLst/>
          </a:prstGeom>
        </p:spPr>
      </p:pic>
      <p:pic>
        <p:nvPicPr>
          <p:cNvPr id="8" name="Grafik 7" descr="pu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87824" y="5373216"/>
            <a:ext cx="1008112" cy="548100"/>
          </a:xfrm>
          <a:prstGeom prst="rect">
            <a:avLst/>
          </a:prstGeom>
        </p:spPr>
      </p:pic>
      <p:pic>
        <p:nvPicPr>
          <p:cNvPr id="9" name="Grafik 8" descr="HC-SR04-ultrasonic-module(02)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732240" y="2132856"/>
            <a:ext cx="1872208" cy="1174811"/>
          </a:xfrm>
          <a:prstGeom prst="rect">
            <a:avLst/>
          </a:prstGeom>
        </p:spPr>
      </p:pic>
      <p:pic>
        <p:nvPicPr>
          <p:cNvPr id="11" name="Grafik 10" descr="DHT11 Digital Temperature and Humidity Sensor Twins Chip 1-1000x1000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60232" y="3717032"/>
            <a:ext cx="1872208" cy="18722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Ultrazvučna mjerna metoda</a:t>
            </a:r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8" name="Grafik 7" descr="How-does-the-HC-SR04-ultrasonic-distance-sensor-work-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19672" y="2204864"/>
            <a:ext cx="5796617" cy="3888433"/>
          </a:xfrm>
          <a:prstGeom prst="rect">
            <a:avLst/>
          </a:prstGeom>
        </p:spPr>
      </p:pic>
      <p:sp>
        <p:nvSpPr>
          <p:cNvPr id="11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GB" sz="2000" dirty="0" err="1" smtClean="0"/>
              <a:t>Princip</a:t>
            </a:r>
            <a:r>
              <a:rPr lang="en-GB" sz="2000" dirty="0" smtClean="0"/>
              <a:t> </a:t>
            </a:r>
            <a:r>
              <a:rPr lang="en-GB" sz="2000" dirty="0" err="1" smtClean="0"/>
              <a:t>rada</a:t>
            </a:r>
            <a:r>
              <a:rPr lang="en-GB" sz="2000" dirty="0" smtClean="0"/>
              <a:t> </a:t>
            </a:r>
            <a:r>
              <a:rPr lang="en-GB" sz="2000" dirty="0" err="1" smtClean="0"/>
              <a:t>senzora</a:t>
            </a:r>
            <a:r>
              <a:rPr lang="en-GB" sz="2000" dirty="0" smtClean="0"/>
              <a:t> HC-SR04</a:t>
            </a:r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Ultrazvučna mjerna metoda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sz="2000" b="1" dirty="0" smtClean="0"/>
              <a:t>Ideja izvedbe </a:t>
            </a:r>
            <a:r>
              <a:rPr lang="hr-HR" sz="2000" dirty="0" smtClean="0"/>
              <a:t>– detektiranje </a:t>
            </a:r>
            <a:r>
              <a:rPr lang="hr-HR" sz="2000" b="1" dirty="0" smtClean="0"/>
              <a:t>prepreke</a:t>
            </a:r>
            <a:r>
              <a:rPr lang="hr-HR" sz="2000" dirty="0" smtClean="0"/>
              <a:t> ispred ultrazvučnog senzora</a:t>
            </a:r>
          </a:p>
          <a:p>
            <a:r>
              <a:rPr lang="hr-HR" sz="2000" b="1" dirty="0" smtClean="0"/>
              <a:t>Prepreka</a:t>
            </a:r>
            <a:r>
              <a:rPr lang="hr-HR" sz="2000" dirty="0" smtClean="0"/>
              <a:t> = površina mjerene tekućine</a:t>
            </a:r>
          </a:p>
          <a:p>
            <a:r>
              <a:rPr lang="hr-HR" sz="2000" dirty="0" smtClean="0">
                <a:solidFill>
                  <a:srgbClr val="FF0000"/>
                </a:solidFill>
              </a:rPr>
              <a:t>POČETNA KALIBRACIJA </a:t>
            </a:r>
            <a:r>
              <a:rPr lang="hr-HR" sz="2000" dirty="0" smtClean="0"/>
              <a:t>= prilagodba sustava prema korištenoj posudi</a:t>
            </a:r>
          </a:p>
          <a:p>
            <a:r>
              <a:rPr lang="hr-HR" sz="2000" dirty="0" smtClean="0">
                <a:solidFill>
                  <a:schemeClr val="tx2"/>
                </a:solidFill>
              </a:rPr>
              <a:t>od </a:t>
            </a:r>
            <a:r>
              <a:rPr lang="de-DE" sz="2000" dirty="0" err="1" smtClean="0">
                <a:solidFill>
                  <a:schemeClr val="tx2"/>
                </a:solidFill>
              </a:rPr>
              <a:t>predajnika</a:t>
            </a:r>
            <a:r>
              <a:rPr lang="hr-HR" sz="2000" dirty="0" smtClean="0">
                <a:solidFill>
                  <a:schemeClr val="tx2"/>
                </a:solidFill>
              </a:rPr>
              <a:t> prema prepreki </a:t>
            </a:r>
            <a:r>
              <a:rPr lang="hr-HR" sz="2000" dirty="0" smtClean="0"/>
              <a:t>+ </a:t>
            </a:r>
            <a:r>
              <a:rPr lang="hr-HR" sz="2000" dirty="0" smtClean="0">
                <a:solidFill>
                  <a:schemeClr val="tx2"/>
                </a:solidFill>
              </a:rPr>
              <a:t>reflektiran od prepreke prema prijemniku </a:t>
            </a:r>
          </a:p>
          <a:p>
            <a:pPr>
              <a:buNone/>
            </a:pPr>
            <a:r>
              <a:rPr lang="hr-HR" sz="2000" dirty="0">
                <a:solidFill>
                  <a:schemeClr val="tx2"/>
                </a:solidFill>
              </a:rPr>
              <a:t>	</a:t>
            </a:r>
            <a:r>
              <a:rPr lang="hr-HR" sz="2000" dirty="0" smtClean="0"/>
              <a:t>= </a:t>
            </a:r>
            <a:r>
              <a:rPr lang="hr-HR" sz="2000" b="1" dirty="0" smtClean="0"/>
              <a:t>Izmjereni</a:t>
            </a:r>
            <a:r>
              <a:rPr lang="hr-HR" sz="2000" dirty="0" smtClean="0"/>
              <a:t> vremenski interval obilaska vala </a:t>
            </a:r>
            <a:endParaRPr lang="hr-HR" sz="2000" dirty="0" smtClean="0">
              <a:solidFill>
                <a:schemeClr val="tx2"/>
              </a:solidFill>
            </a:endParaRPr>
          </a:p>
          <a:p>
            <a:r>
              <a:rPr lang="hr-HR" sz="2000" dirty="0" smtClean="0"/>
              <a:t>Za određivanje udaljenosti koristi se </a:t>
            </a:r>
            <a:r>
              <a:rPr lang="hr-HR" sz="2000" b="1" dirty="0" smtClean="0"/>
              <a:t>polovično izmjereno vrijeme </a:t>
            </a:r>
          </a:p>
          <a:p>
            <a:pPr>
              <a:buNone/>
            </a:pPr>
            <a:r>
              <a:rPr lang="hr-HR" sz="2000" b="1" dirty="0"/>
              <a:t>	</a:t>
            </a:r>
            <a:r>
              <a:rPr lang="hr-HR" sz="2000" dirty="0" smtClean="0"/>
              <a:t>(uz statističku pretpostavku 50% - 50%)</a:t>
            </a:r>
            <a:endParaRPr lang="en-GB" sz="20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6</a:t>
            </a:fld>
            <a:endParaRPr lang="en-GB" dirty="0"/>
          </a:p>
        </p:txBody>
      </p:sp>
      <p:graphicFrame>
        <p:nvGraphicFramePr>
          <p:cNvPr id="7" name="Diagramm 6"/>
          <p:cNvGraphicFramePr/>
          <p:nvPr/>
        </p:nvGraphicFramePr>
        <p:xfrm>
          <a:off x="827584" y="2969568"/>
          <a:ext cx="7776864" cy="3888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Ultrazvučna mjerna metoda</a:t>
            </a:r>
            <a:endParaRPr lang="en-GB" dirty="0"/>
          </a:p>
        </p:txBody>
      </p:sp>
      <p:pic>
        <p:nvPicPr>
          <p:cNvPr id="7" name="Inhaltsplatzhalter 6" descr="ultrazvucnametoda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07704" y="1494959"/>
            <a:ext cx="5472608" cy="4613848"/>
          </a:xfrm>
        </p:spPr>
      </p:pic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7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Kapacitivna</a:t>
            </a:r>
            <a:r>
              <a:rPr lang="de-DE" dirty="0" smtClean="0"/>
              <a:t> </a:t>
            </a:r>
            <a:r>
              <a:rPr lang="de-DE" dirty="0" err="1" smtClean="0"/>
              <a:t>mjerna</a:t>
            </a:r>
            <a:r>
              <a:rPr lang="de-DE" dirty="0" smtClean="0"/>
              <a:t> </a:t>
            </a:r>
            <a:r>
              <a:rPr lang="de-DE" dirty="0" err="1" smtClean="0"/>
              <a:t>metoda</a:t>
            </a:r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8" name="Grafik 7" descr="zanevodljiv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3212976"/>
            <a:ext cx="3312368" cy="2825255"/>
          </a:xfrm>
          <a:prstGeom prst="rect">
            <a:avLst/>
          </a:prstGeom>
        </p:spPr>
      </p:pic>
      <p:pic>
        <p:nvPicPr>
          <p:cNvPr id="9" name="Grafik 8" descr="zavodljiv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80140" y="3429000"/>
            <a:ext cx="3036276" cy="2375689"/>
          </a:xfrm>
          <a:prstGeom prst="rect">
            <a:avLst/>
          </a:prstGeom>
        </p:spPr>
      </p:pic>
      <p:sp>
        <p:nvSpPr>
          <p:cNvPr id="10" name="Textfeld 9"/>
          <p:cNvSpPr txBox="1"/>
          <p:nvPr/>
        </p:nvSpPr>
        <p:spPr>
          <a:xfrm>
            <a:off x="539552" y="1700808"/>
            <a:ext cx="3744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itchFamily="34" charset="0"/>
              <a:buChar char="•"/>
            </a:pPr>
            <a:r>
              <a:rPr lang="de-DE" sz="1600" i="1" dirty="0" smtClean="0"/>
              <a:t>  </a:t>
            </a:r>
            <a:r>
              <a:rPr lang="hr-HR" sz="1600" i="1" dirty="0" smtClean="0"/>
              <a:t>Mjerna </a:t>
            </a:r>
            <a:r>
              <a:rPr lang="hr-HR" sz="1600" i="1" dirty="0" smtClean="0"/>
              <a:t>metoda za </a:t>
            </a:r>
            <a:r>
              <a:rPr lang="hr-HR" sz="1600" b="1" i="1" dirty="0" smtClean="0"/>
              <a:t>nevodljive</a:t>
            </a:r>
            <a:r>
              <a:rPr lang="de-DE" sz="1600" b="1" i="1" dirty="0" smtClean="0"/>
              <a:t> </a:t>
            </a:r>
            <a:r>
              <a:rPr lang="hr-HR" sz="1600" b="1" i="1" dirty="0" smtClean="0"/>
              <a:t>tekućine</a:t>
            </a:r>
            <a:endParaRPr lang="en-GB" sz="1600" b="1" i="1" dirty="0"/>
          </a:p>
        </p:txBody>
      </p:sp>
      <p:sp>
        <p:nvSpPr>
          <p:cNvPr id="11" name="Textfeld 10"/>
          <p:cNvSpPr txBox="1"/>
          <p:nvPr/>
        </p:nvSpPr>
        <p:spPr>
          <a:xfrm>
            <a:off x="5076056" y="1700808"/>
            <a:ext cx="3456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itchFamily="34" charset="0"/>
              <a:buChar char="•"/>
            </a:pPr>
            <a:r>
              <a:rPr lang="de-DE" sz="1600" i="1" dirty="0" smtClean="0"/>
              <a:t>  </a:t>
            </a:r>
            <a:r>
              <a:rPr lang="hr-HR" sz="1600" i="1" dirty="0" smtClean="0"/>
              <a:t>Mjerna </a:t>
            </a:r>
            <a:r>
              <a:rPr lang="hr-HR" sz="1600" i="1" dirty="0" smtClean="0"/>
              <a:t>metoda za </a:t>
            </a:r>
            <a:r>
              <a:rPr lang="hr-HR" sz="1600" b="1" i="1" dirty="0" smtClean="0"/>
              <a:t>vodljive tekućine</a:t>
            </a:r>
            <a:endParaRPr lang="en-GB" sz="1600" b="1" i="1" dirty="0"/>
          </a:p>
        </p:txBody>
      </p:sp>
      <p:cxnSp>
        <p:nvCxnSpPr>
          <p:cNvPr id="13" name="Gerade Verbindung 12"/>
          <p:cNvCxnSpPr/>
          <p:nvPr/>
        </p:nvCxnSpPr>
        <p:spPr>
          <a:xfrm>
            <a:off x="4644008" y="2708920"/>
            <a:ext cx="0" cy="3096344"/>
          </a:xfrm>
          <a:prstGeom prst="line">
            <a:avLst/>
          </a:prstGeom>
          <a:ln w="25400" cap="flat">
            <a:headEnd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fik 14" descr="zanevodljiveformul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19672" y="2593851"/>
            <a:ext cx="2228850" cy="619125"/>
          </a:xfrm>
          <a:prstGeom prst="rect">
            <a:avLst/>
          </a:prstGeom>
        </p:spPr>
      </p:pic>
      <p:pic>
        <p:nvPicPr>
          <p:cNvPr id="16" name="Grafik 15" descr="zavodljiveformula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862414" y="2637284"/>
            <a:ext cx="1085850" cy="647700"/>
          </a:xfrm>
          <a:prstGeom prst="rect">
            <a:avLst/>
          </a:prstGeom>
        </p:spPr>
      </p:pic>
      <p:sp>
        <p:nvSpPr>
          <p:cNvPr id="14" name="Rechteck 13"/>
          <p:cNvSpPr/>
          <p:nvPr/>
        </p:nvSpPr>
        <p:spPr>
          <a:xfrm>
            <a:off x="2411760" y="2708920"/>
            <a:ext cx="288032" cy="288032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/>
          <p:cNvSpPr/>
          <p:nvPr/>
        </p:nvSpPr>
        <p:spPr>
          <a:xfrm>
            <a:off x="2771800" y="2708920"/>
            <a:ext cx="288032" cy="288032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/>
          <p:cNvSpPr/>
          <p:nvPr/>
        </p:nvSpPr>
        <p:spPr>
          <a:xfrm>
            <a:off x="3419872" y="2708920"/>
            <a:ext cx="216024" cy="288032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/>
          <p:cNvSpPr/>
          <p:nvPr/>
        </p:nvSpPr>
        <p:spPr>
          <a:xfrm>
            <a:off x="6516216" y="2636912"/>
            <a:ext cx="216024" cy="288032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feld 19"/>
          <p:cNvSpPr txBox="1"/>
          <p:nvPr/>
        </p:nvSpPr>
        <p:spPr>
          <a:xfrm>
            <a:off x="3347864" y="2204864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 smtClean="0">
                <a:solidFill>
                  <a:schemeClr val="accent3">
                    <a:lumMod val="75000"/>
                  </a:schemeClr>
                </a:solidFill>
              </a:rPr>
              <a:t>DIELEKTRIČNA KONSTANTA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21" name="Gerade Verbindung mit Pfeil 20"/>
          <p:cNvCxnSpPr/>
          <p:nvPr/>
        </p:nvCxnSpPr>
        <p:spPr>
          <a:xfrm flipH="1">
            <a:off x="2771800" y="2420888"/>
            <a:ext cx="432048" cy="14401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/>
          <p:nvPr/>
        </p:nvCxnSpPr>
        <p:spPr>
          <a:xfrm>
            <a:off x="6228184" y="2420888"/>
            <a:ext cx="360040" cy="72008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  <p:bldP spid="19" grpId="0" animBg="1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Kapacitivna mjerna metoda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000" dirty="0" smtClean="0"/>
              <a:t>Metoda obrade izmjerenog </a:t>
            </a:r>
            <a:r>
              <a:rPr lang="hr-HR" sz="2000" dirty="0" smtClean="0"/>
              <a:t>kapaciteta</a:t>
            </a:r>
            <a:endParaRPr lang="de-DE" sz="2000" dirty="0" smtClean="0"/>
          </a:p>
          <a:p>
            <a:endParaRPr lang="en-GB" sz="20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7" name="Grafik 6" descr="izvedbaparazitnogkapacitet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9632" y="3861048"/>
            <a:ext cx="2613814" cy="2160240"/>
          </a:xfrm>
          <a:prstGeom prst="rect">
            <a:avLst/>
          </a:prstGeom>
        </p:spPr>
      </p:pic>
      <p:pic>
        <p:nvPicPr>
          <p:cNvPr id="8" name="Grafik 7" descr="formulaparazkap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19672" y="2924944"/>
            <a:ext cx="1440160" cy="565297"/>
          </a:xfrm>
          <a:prstGeom prst="rect">
            <a:avLst/>
          </a:prstGeom>
        </p:spPr>
      </p:pic>
      <p:cxnSp>
        <p:nvCxnSpPr>
          <p:cNvPr id="9" name="Gerade Verbindung 8"/>
          <p:cNvCxnSpPr/>
          <p:nvPr/>
        </p:nvCxnSpPr>
        <p:spPr>
          <a:xfrm>
            <a:off x="4644008" y="2348880"/>
            <a:ext cx="0" cy="3456384"/>
          </a:xfrm>
          <a:prstGeom prst="line">
            <a:avLst/>
          </a:prstGeom>
          <a:ln w="25400" cap="flat">
            <a:headEnd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 descr="rcmetod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20072" y="4005064"/>
            <a:ext cx="3324326" cy="1656184"/>
          </a:xfrm>
          <a:prstGeom prst="rect">
            <a:avLst/>
          </a:prstGeom>
        </p:spPr>
      </p:pic>
      <p:pic>
        <p:nvPicPr>
          <p:cNvPr id="13" name="Grafik 12" descr="rckrugform2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724128" y="2915652"/>
            <a:ext cx="1717923" cy="617180"/>
          </a:xfrm>
          <a:prstGeom prst="rect">
            <a:avLst/>
          </a:prstGeom>
        </p:spPr>
      </p:pic>
      <p:sp>
        <p:nvSpPr>
          <p:cNvPr id="15" name="Rechteck 14"/>
          <p:cNvSpPr/>
          <p:nvPr/>
        </p:nvSpPr>
        <p:spPr>
          <a:xfrm>
            <a:off x="1979712" y="2924944"/>
            <a:ext cx="288032" cy="504056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feld 15"/>
          <p:cNvSpPr txBox="1"/>
          <p:nvPr/>
        </p:nvSpPr>
        <p:spPr>
          <a:xfrm>
            <a:off x="1331640" y="3429000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 smtClean="0">
                <a:solidFill>
                  <a:srgbClr val="FF0000"/>
                </a:solidFill>
              </a:rPr>
              <a:t>POČETNA KALIBRACIJA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7" name="Rechteck 16"/>
          <p:cNvSpPr/>
          <p:nvPr/>
        </p:nvSpPr>
        <p:spPr>
          <a:xfrm>
            <a:off x="6084168" y="3131676"/>
            <a:ext cx="216024" cy="360040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feld 17"/>
          <p:cNvSpPr txBox="1"/>
          <p:nvPr/>
        </p:nvSpPr>
        <p:spPr>
          <a:xfrm>
            <a:off x="5580112" y="349171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 smtClean="0">
                <a:solidFill>
                  <a:srgbClr val="FF0000"/>
                </a:solidFill>
              </a:rPr>
              <a:t>POČETNA KALIBRACIJA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539552" y="2204864"/>
            <a:ext cx="3744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itchFamily="34" charset="0"/>
              <a:buChar char="•"/>
            </a:pPr>
            <a:r>
              <a:rPr lang="de-DE" sz="1600" i="1" dirty="0" smtClean="0"/>
              <a:t>  </a:t>
            </a:r>
            <a:r>
              <a:rPr lang="de-DE" sz="1600" i="1" dirty="0" err="1" smtClean="0"/>
              <a:t>Izvedba</a:t>
            </a:r>
            <a:r>
              <a:rPr lang="de-DE" sz="1600" i="1" dirty="0" smtClean="0"/>
              <a:t> </a:t>
            </a:r>
            <a:r>
              <a:rPr lang="de-DE" sz="1600" i="1" dirty="0" err="1" smtClean="0"/>
              <a:t>parazitnog</a:t>
            </a:r>
            <a:r>
              <a:rPr lang="de-DE" sz="1600" i="1" dirty="0" smtClean="0"/>
              <a:t> </a:t>
            </a:r>
            <a:r>
              <a:rPr lang="de-DE" sz="1600" i="1" dirty="0" err="1" smtClean="0"/>
              <a:t>kapaciteta</a:t>
            </a:r>
            <a:endParaRPr lang="de-DE" sz="1600" i="1" dirty="0" smtClean="0"/>
          </a:p>
          <a:p>
            <a:pPr algn="ctr"/>
            <a:r>
              <a:rPr lang="de-DE" sz="1600" i="1" dirty="0" smtClean="0"/>
              <a:t>(</a:t>
            </a:r>
            <a:r>
              <a:rPr lang="de-DE" sz="1600" i="1" dirty="0" err="1" smtClean="0"/>
              <a:t>izmjereni</a:t>
            </a:r>
            <a:r>
              <a:rPr lang="de-DE" sz="1600" i="1" dirty="0" smtClean="0"/>
              <a:t> </a:t>
            </a:r>
            <a:r>
              <a:rPr lang="de-DE" sz="1600" i="1" dirty="0" err="1" smtClean="0"/>
              <a:t>kapacitet</a:t>
            </a:r>
            <a:r>
              <a:rPr lang="de-DE" sz="1600" i="1" dirty="0" smtClean="0"/>
              <a:t> </a:t>
            </a:r>
            <a:r>
              <a:rPr lang="de-DE" sz="1600" b="1" i="1" dirty="0" err="1" smtClean="0"/>
              <a:t>manji</a:t>
            </a:r>
            <a:r>
              <a:rPr lang="de-DE" sz="1600" i="1" dirty="0" smtClean="0"/>
              <a:t> </a:t>
            </a:r>
            <a:r>
              <a:rPr lang="de-DE" sz="1600" i="1" dirty="0" err="1" smtClean="0"/>
              <a:t>od</a:t>
            </a:r>
            <a:r>
              <a:rPr lang="de-DE" sz="1600" i="1" dirty="0" smtClean="0"/>
              <a:t> </a:t>
            </a:r>
            <a:r>
              <a:rPr lang="de-DE" sz="1600" b="1" i="1" dirty="0" smtClean="0"/>
              <a:t>1nF</a:t>
            </a:r>
            <a:r>
              <a:rPr lang="de-DE" sz="1600" i="1" dirty="0" smtClean="0"/>
              <a:t>)</a:t>
            </a:r>
            <a:endParaRPr lang="en-GB" sz="1600" i="1" dirty="0"/>
          </a:p>
        </p:txBody>
      </p:sp>
      <p:sp>
        <p:nvSpPr>
          <p:cNvPr id="20" name="Textfeld 19"/>
          <p:cNvSpPr txBox="1"/>
          <p:nvPr/>
        </p:nvSpPr>
        <p:spPr>
          <a:xfrm>
            <a:off x="4860032" y="2204864"/>
            <a:ext cx="3672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itchFamily="34" charset="0"/>
              <a:buChar char="•"/>
            </a:pPr>
            <a:r>
              <a:rPr lang="de-DE" sz="1600" i="1" dirty="0" smtClean="0"/>
              <a:t>  </a:t>
            </a:r>
            <a:r>
              <a:rPr lang="hr-HR" sz="1600" i="1" dirty="0" smtClean="0"/>
              <a:t>Izvedba </a:t>
            </a:r>
            <a:r>
              <a:rPr lang="hr-HR" sz="1600" i="1" dirty="0" smtClean="0"/>
              <a:t>realizirana RC krugom</a:t>
            </a:r>
          </a:p>
          <a:p>
            <a:pPr algn="ctr"/>
            <a:r>
              <a:rPr lang="hr-HR" sz="1600" i="1" dirty="0" smtClean="0"/>
              <a:t>(izmjereni kapacitet </a:t>
            </a:r>
            <a:r>
              <a:rPr lang="hr-HR" sz="1600" b="1" i="1" dirty="0" smtClean="0"/>
              <a:t>veći</a:t>
            </a:r>
            <a:r>
              <a:rPr lang="hr-HR" sz="1600" i="1" dirty="0" smtClean="0"/>
              <a:t> od </a:t>
            </a:r>
            <a:r>
              <a:rPr lang="hr-HR" sz="1600" b="1" i="1" dirty="0" smtClean="0"/>
              <a:t>1nF</a:t>
            </a:r>
            <a:r>
              <a:rPr lang="hr-HR" sz="1600" i="1" dirty="0" smtClean="0"/>
              <a:t>)</a:t>
            </a:r>
            <a:endParaRPr lang="en-GB" sz="16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 animBg="1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Hidrostatska mjerna metoda</a:t>
            </a:r>
            <a:endParaRPr lang="en-GB" dirty="0"/>
          </a:p>
        </p:txBody>
      </p:sp>
      <p:pic>
        <p:nvPicPr>
          <p:cNvPr id="7" name="Inhaltsplatzhalter 6" descr="hidrostatzaotvorenuposudu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41987" y="3068960"/>
            <a:ext cx="2465918" cy="2810258"/>
          </a:xfrm>
        </p:spPr>
      </p:pic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10</a:t>
            </a:fld>
            <a:endParaRPr lang="en-GB" dirty="0"/>
          </a:p>
        </p:txBody>
      </p:sp>
      <p:cxnSp>
        <p:nvCxnSpPr>
          <p:cNvPr id="9" name="Gerade Verbindung 8"/>
          <p:cNvCxnSpPr/>
          <p:nvPr/>
        </p:nvCxnSpPr>
        <p:spPr>
          <a:xfrm>
            <a:off x="4644008" y="2708920"/>
            <a:ext cx="0" cy="3096344"/>
          </a:xfrm>
          <a:prstGeom prst="line">
            <a:avLst/>
          </a:prstGeom>
          <a:ln w="25400" cap="flat">
            <a:headEnd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 descr="metodazazatvorenuposudu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52120" y="2996952"/>
            <a:ext cx="2467083" cy="2952328"/>
          </a:xfrm>
          <a:prstGeom prst="rect">
            <a:avLst/>
          </a:prstGeom>
        </p:spPr>
      </p:pic>
      <p:sp>
        <p:nvSpPr>
          <p:cNvPr id="12" name="Textfeld 11"/>
          <p:cNvSpPr txBox="1"/>
          <p:nvPr/>
        </p:nvSpPr>
        <p:spPr>
          <a:xfrm>
            <a:off x="5220072" y="1628800"/>
            <a:ext cx="3384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itchFamily="34" charset="0"/>
              <a:buChar char="•"/>
            </a:pPr>
            <a:r>
              <a:rPr lang="de-DE" sz="1600" i="1" dirty="0" smtClean="0"/>
              <a:t>  </a:t>
            </a:r>
            <a:r>
              <a:rPr lang="hr-HR" sz="1600" i="1" dirty="0" smtClean="0"/>
              <a:t>Mjerna </a:t>
            </a:r>
            <a:r>
              <a:rPr lang="hr-HR" sz="1600" i="1" dirty="0" smtClean="0"/>
              <a:t>metoda za razinu tekućine u </a:t>
            </a:r>
            <a:r>
              <a:rPr lang="hr-HR" sz="1600" b="1" i="1" dirty="0" smtClean="0"/>
              <a:t>zatvorenoj posudi</a:t>
            </a:r>
            <a:endParaRPr lang="en-GB" sz="1200" b="1" i="1" dirty="0"/>
          </a:p>
        </p:txBody>
      </p:sp>
      <p:pic>
        <p:nvPicPr>
          <p:cNvPr id="14" name="Grafik 13" descr="formulezazatvorenuposudu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92080" y="2636912"/>
            <a:ext cx="3096344" cy="263519"/>
          </a:xfrm>
          <a:prstGeom prst="rect">
            <a:avLst/>
          </a:prstGeom>
        </p:spPr>
      </p:pic>
      <p:pic>
        <p:nvPicPr>
          <p:cNvPr id="17" name="Grafik 16" descr="formulezaotvorenuposudu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99592" y="2636912"/>
            <a:ext cx="3168352" cy="245709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3635896" y="2636912"/>
            <a:ext cx="216024" cy="288032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7956376" y="2636912"/>
            <a:ext cx="216024" cy="288032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4572000" y="220486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accent3">
                    <a:lumMod val="75000"/>
                  </a:schemeClr>
                </a:solidFill>
              </a:rPr>
              <a:t>GUSTO</a:t>
            </a:r>
            <a:r>
              <a:rPr lang="hr-HR" dirty="0" smtClean="0">
                <a:solidFill>
                  <a:schemeClr val="accent3">
                    <a:lumMod val="75000"/>
                  </a:schemeClr>
                </a:solidFill>
              </a:rPr>
              <a:t>ĆA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19" name="Gerade Verbindung mit Pfeil 18"/>
          <p:cNvCxnSpPr/>
          <p:nvPr/>
        </p:nvCxnSpPr>
        <p:spPr>
          <a:xfrm flipH="1">
            <a:off x="4067944" y="2420888"/>
            <a:ext cx="432048" cy="14401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/>
          <p:nvPr/>
        </p:nvCxnSpPr>
        <p:spPr>
          <a:xfrm>
            <a:off x="5724128" y="2420888"/>
            <a:ext cx="1440160" cy="14401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/>
          <p:cNvSpPr txBox="1"/>
          <p:nvPr/>
        </p:nvSpPr>
        <p:spPr>
          <a:xfrm>
            <a:off x="755576" y="1628800"/>
            <a:ext cx="3384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itchFamily="34" charset="0"/>
              <a:buChar char="•"/>
            </a:pPr>
            <a:r>
              <a:rPr lang="de-DE" sz="1600" i="1" dirty="0" smtClean="0"/>
              <a:t>  </a:t>
            </a:r>
            <a:r>
              <a:rPr lang="hr-HR" sz="1600" i="1" dirty="0" smtClean="0"/>
              <a:t>Mjerna </a:t>
            </a:r>
            <a:r>
              <a:rPr lang="hr-HR" sz="1600" i="1" dirty="0" smtClean="0"/>
              <a:t>metoda za razinu tekućine u </a:t>
            </a:r>
            <a:r>
              <a:rPr lang="hr-HR" sz="1600" b="1" i="1" dirty="0" smtClean="0"/>
              <a:t>otvorenoj posudi</a:t>
            </a:r>
            <a:endParaRPr lang="en-GB" sz="1600" b="1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Hidrostatska mjerna metoda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sz="2000" dirty="0" smtClean="0"/>
              <a:t>Senzor </a:t>
            </a:r>
            <a:r>
              <a:rPr lang="hr-HR" sz="2000" dirty="0" smtClean="0"/>
              <a:t>MPX5010DP</a:t>
            </a:r>
            <a:r>
              <a:rPr lang="de-DE" sz="2000" dirty="0" smtClean="0"/>
              <a:t> (</a:t>
            </a:r>
            <a:r>
              <a:rPr lang="de-DE" sz="2000" dirty="0" err="1" smtClean="0"/>
              <a:t>prijenosna</a:t>
            </a:r>
            <a:r>
              <a:rPr lang="de-DE" sz="2000" dirty="0" smtClean="0"/>
              <a:t> </a:t>
            </a:r>
            <a:r>
              <a:rPr lang="de-DE" sz="2000" dirty="0" err="1" smtClean="0"/>
              <a:t>funkcija</a:t>
            </a:r>
            <a:r>
              <a:rPr lang="de-DE" sz="2000" dirty="0" smtClean="0"/>
              <a:t>)</a:t>
            </a:r>
            <a:endParaRPr lang="hr-HR" sz="2000" dirty="0" smtClean="0"/>
          </a:p>
          <a:p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7" name="Grafik 6" descr="prijenosna funkcij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568" y="2420888"/>
            <a:ext cx="3836585" cy="2592288"/>
          </a:xfrm>
          <a:prstGeom prst="rect">
            <a:avLst/>
          </a:prstGeom>
        </p:spPr>
      </p:pic>
      <p:sp>
        <p:nvSpPr>
          <p:cNvPr id="9" name="Pfeil nach rechts 8"/>
          <p:cNvSpPr/>
          <p:nvPr/>
        </p:nvSpPr>
        <p:spPr>
          <a:xfrm>
            <a:off x="4644008" y="3501008"/>
            <a:ext cx="57606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Grafik 10" descr="visinaihidrostatskitlak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28184" y="4149080"/>
            <a:ext cx="1224136" cy="879152"/>
          </a:xfrm>
          <a:prstGeom prst="rect">
            <a:avLst/>
          </a:prstGeom>
        </p:spPr>
      </p:pic>
      <p:pic>
        <p:nvPicPr>
          <p:cNvPr id="12" name="Grafik 11" descr="formulazahidrostattlakpojednostavljane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580112" y="2636912"/>
            <a:ext cx="2628900" cy="771525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5508104" y="2492896"/>
            <a:ext cx="2880320" cy="1008112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feld 13"/>
          <p:cNvSpPr txBox="1"/>
          <p:nvPr/>
        </p:nvSpPr>
        <p:spPr>
          <a:xfrm>
            <a:off x="5796136" y="3717032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 smtClean="0">
                <a:solidFill>
                  <a:srgbClr val="FF0000"/>
                </a:solidFill>
              </a:rPr>
              <a:t>POČETNA KALIBRACIJA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6876256" y="4653136"/>
            <a:ext cx="216024" cy="360040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Zaključak</a:t>
            </a:r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12</a:t>
            </a:fld>
            <a:endParaRPr lang="en-GB" dirty="0"/>
          </a:p>
        </p:txBody>
      </p:sp>
      <p:graphicFrame>
        <p:nvGraphicFramePr>
          <p:cNvPr id="9" name="Inhaltsplatzhalter 8"/>
          <p:cNvGraphicFramePr>
            <a:graphicFrameLocks noGrp="1"/>
          </p:cNvGraphicFramePr>
          <p:nvPr>
            <p:ph idx="1"/>
          </p:nvPr>
        </p:nvGraphicFramePr>
        <p:xfrm>
          <a:off x="755576" y="1412777"/>
          <a:ext cx="7848871" cy="450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106"/>
                <a:gridCol w="2815743"/>
                <a:gridCol w="3375022"/>
              </a:tblGrid>
              <a:tr h="601050">
                <a:tc>
                  <a:txBody>
                    <a:bodyPr/>
                    <a:lstStyle/>
                    <a:p>
                      <a:pPr algn="ctr"/>
                      <a:r>
                        <a:rPr lang="hr-HR" sz="1600" dirty="0" smtClean="0"/>
                        <a:t>Mjerne metode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600" dirty="0" smtClean="0"/>
                        <a:t>Prednosti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600" dirty="0" smtClean="0"/>
                        <a:t>Nedostaci</a:t>
                      </a:r>
                      <a:endParaRPr lang="en-GB" sz="1600" dirty="0"/>
                    </a:p>
                  </a:txBody>
                  <a:tcPr anchor="ctr"/>
                </a:tc>
              </a:tr>
              <a:tr h="1125583">
                <a:tc>
                  <a:txBody>
                    <a:bodyPr/>
                    <a:lstStyle/>
                    <a:p>
                      <a:pPr algn="ctr"/>
                      <a:r>
                        <a:rPr lang="hr-HR" sz="1600" dirty="0" smtClean="0"/>
                        <a:t>Ultrazvučna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r-HR" sz="1400" dirty="0" smtClean="0"/>
                        <a:t>- </a:t>
                      </a:r>
                      <a:r>
                        <a:rPr lang="hr-HR" sz="1400" b="1" dirty="0" smtClean="0"/>
                        <a:t>Jednostavnost</a:t>
                      </a:r>
                      <a:r>
                        <a:rPr lang="hr-HR" sz="1400" dirty="0" smtClean="0"/>
                        <a:t> </a:t>
                      </a:r>
                      <a:r>
                        <a:rPr lang="hr-HR" sz="1400" b="1" dirty="0" smtClean="0"/>
                        <a:t>i</a:t>
                      </a:r>
                      <a:r>
                        <a:rPr lang="hr-HR" sz="1400" baseline="0" dirty="0" smtClean="0"/>
                        <a:t> </a:t>
                      </a:r>
                      <a:r>
                        <a:rPr lang="hr-HR" sz="1400" b="1" dirty="0" smtClean="0"/>
                        <a:t>fleksibilnost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dirty="0" smtClean="0"/>
                        <a:t> Vrlo precizna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dirty="0" smtClean="0"/>
                        <a:t> Tekućine </a:t>
                      </a:r>
                      <a:r>
                        <a:rPr lang="hr-HR" sz="1400" baseline="0" dirty="0" smtClean="0"/>
                        <a:t>i čvrste tvari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dirty="0" smtClean="0"/>
                        <a:t> </a:t>
                      </a:r>
                      <a:r>
                        <a:rPr lang="hr-HR" sz="1400" b="1" dirty="0" smtClean="0"/>
                        <a:t>Ne zahtijeva dodir s</a:t>
                      </a:r>
                      <a:r>
                        <a:rPr lang="hr-HR" sz="1400" b="1" baseline="0" dirty="0" smtClean="0"/>
                        <a:t> uzorkom</a:t>
                      </a:r>
                      <a:endParaRPr lang="hr-HR" sz="1400" b="1" dirty="0" smtClean="0"/>
                    </a:p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hr-HR" sz="1400" dirty="0" smtClean="0"/>
                        <a:t> Visoka cijena vrlo preciznih senzora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Ne mogu se mjeriti pjenaste tvari</a:t>
                      </a:r>
                      <a:endParaRPr lang="en-GB" sz="1400" dirty="0" smtClean="0"/>
                    </a:p>
                    <a:p>
                      <a:endParaRPr lang="en-GB" sz="1400" dirty="0"/>
                    </a:p>
                  </a:txBody>
                  <a:tcPr/>
                </a:tc>
              </a:tr>
              <a:tr h="1125583">
                <a:tc>
                  <a:txBody>
                    <a:bodyPr/>
                    <a:lstStyle/>
                    <a:p>
                      <a:pPr algn="ctr"/>
                      <a:r>
                        <a:rPr lang="hr-HR" sz="1600" dirty="0" smtClean="0"/>
                        <a:t>Kapacitivna 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hr-HR" sz="1400" dirty="0" smtClean="0"/>
                        <a:t> </a:t>
                      </a:r>
                      <a:r>
                        <a:rPr lang="hr-HR" sz="1400" b="1" dirty="0" smtClean="0"/>
                        <a:t>Jeftina i izvrstan kontinuitet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Precizna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Stabilne konstrukcije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Laka za održavanje</a:t>
                      </a:r>
                    </a:p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U dodiru s uzorcima mjerenja (korozija)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Agresivne kiseline izazivaju mjerne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hr-HR" sz="1400" baseline="0" dirty="0" smtClean="0"/>
                        <a:t>  pogreške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Kompleksna metoda obrade</a:t>
                      </a:r>
                    </a:p>
                    <a:p>
                      <a:endParaRPr lang="en-GB" sz="1400" dirty="0"/>
                    </a:p>
                  </a:txBody>
                  <a:tcPr/>
                </a:tc>
              </a:tr>
              <a:tr h="1540271">
                <a:tc>
                  <a:txBody>
                    <a:bodyPr/>
                    <a:lstStyle/>
                    <a:p>
                      <a:pPr algn="ctr"/>
                      <a:r>
                        <a:rPr lang="hr-HR" sz="1600" dirty="0" smtClean="0"/>
                        <a:t>Hidrostatska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hr-HR" sz="1400" dirty="0" smtClean="0"/>
                        <a:t> </a:t>
                      </a:r>
                      <a:r>
                        <a:rPr lang="hr-HR" sz="1400" b="1" dirty="0" smtClean="0"/>
                        <a:t>Različite</a:t>
                      </a:r>
                      <a:r>
                        <a:rPr lang="hr-HR" sz="1400" b="1" baseline="0" dirty="0" smtClean="0"/>
                        <a:t> tekućine i posude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Isplativa 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</a:t>
                      </a:r>
                      <a:r>
                        <a:rPr lang="hr-HR" sz="1400" b="1" baseline="0" dirty="0" smtClean="0"/>
                        <a:t>Precizna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Izvrstan kontinuitet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Male dimenzije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Prihvatljiva potrošnja</a:t>
                      </a:r>
                    </a:p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hr-HR" sz="1400" dirty="0" smtClean="0"/>
                        <a:t> U dodiru</a:t>
                      </a:r>
                      <a:r>
                        <a:rPr lang="hr-HR" sz="1400" baseline="0" dirty="0" smtClean="0"/>
                        <a:t> s uzorcima mjerenja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Oštećenje komponenata sustava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Eventualne mjerne pogreške (gustoća)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hr-HR" sz="1400" baseline="0" dirty="0" smtClean="0"/>
                        <a:t> Skupi</a:t>
                      </a:r>
                      <a:endParaRPr lang="en-GB" sz="1400" dirty="0" smtClean="0"/>
                    </a:p>
                    <a:p>
                      <a:endParaRPr lang="en-GB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Literatura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lvl="0"/>
            <a:r>
              <a:rPr lang="hr-HR" dirty="0"/>
              <a:t>Hopper H.: „A Dozen Ways to Measure Fluid Level and How They Work“, s Interneta, </a:t>
            </a:r>
            <a:r>
              <a:rPr lang="hr-HR" u="sng" dirty="0">
                <a:hlinkClick r:id="rId2"/>
              </a:rPr>
              <a:t>https://www.fierceelectronics.com/components/a-dozen-ways-to-measure-fluid-level-and-how-they-work</a:t>
            </a:r>
            <a:r>
              <a:rPr lang="hr-HR" dirty="0"/>
              <a:t>, 01.12.2004, posjećeno 01.05.2020.</a:t>
            </a:r>
            <a:endParaRPr lang="de-DE" dirty="0"/>
          </a:p>
          <a:p>
            <a:pPr lvl="0"/>
            <a:r>
              <a:rPr lang="hr-HR" dirty="0"/>
              <a:t>FPI Sensors International: „What is the difference between a point level sensor and a continuous level sensor?“, s Interneta, </a:t>
            </a:r>
            <a:r>
              <a:rPr lang="hr-HR" u="sng" dirty="0">
                <a:hlinkClick r:id="rId3"/>
              </a:rPr>
              <a:t>https://fpisensors.com/difference-point-level-sensors-continuous-level-sensors/</a:t>
            </a:r>
            <a:r>
              <a:rPr lang="hr-HR" dirty="0"/>
              <a:t>, 07.06.2019., posjećeno 03.05.2020.</a:t>
            </a:r>
            <a:endParaRPr lang="de-DE" dirty="0"/>
          </a:p>
          <a:p>
            <a:pPr lvl="0"/>
            <a:r>
              <a:rPr lang="hr-HR" dirty="0"/>
              <a:t>Arduino: „What is Arduino?“, s Interneta, </a:t>
            </a:r>
            <a:r>
              <a:rPr lang="hr-HR" u="sng" dirty="0">
                <a:hlinkClick r:id="rId4"/>
              </a:rPr>
              <a:t>https://www.arduino.cc/en/Guide/Introduction</a:t>
            </a:r>
            <a:r>
              <a:rPr lang="hr-HR" dirty="0"/>
              <a:t>, posjećeno 01.05.2020.</a:t>
            </a:r>
            <a:endParaRPr lang="de-DE" dirty="0"/>
          </a:p>
          <a:p>
            <a:pPr lvl="0"/>
            <a:r>
              <a:rPr lang="hr-HR" dirty="0"/>
              <a:t>Arduino: „Why Arduino?“, s Interneta, </a:t>
            </a:r>
            <a:r>
              <a:rPr lang="hr-HR" u="sng" dirty="0">
                <a:hlinkClick r:id="rId4"/>
              </a:rPr>
              <a:t>https://www.arduino.cc/en/Guide/Introduction</a:t>
            </a:r>
            <a:r>
              <a:rPr lang="hr-HR" dirty="0"/>
              <a:t>, posjećeno 01.05.2020.</a:t>
            </a:r>
            <a:endParaRPr lang="de-DE" dirty="0"/>
          </a:p>
          <a:p>
            <a:pPr lvl="0"/>
            <a:r>
              <a:rPr lang="hr-HR" dirty="0"/>
              <a:t>Arduino: „Arduino Nano?“, s Interneta, </a:t>
            </a:r>
            <a:r>
              <a:rPr lang="hr-HR" u="sng" dirty="0">
                <a:hlinkClick r:id="rId5"/>
              </a:rPr>
              <a:t>https://www.arduino.cc/en/pmwiki.php?n=Main/ArduinoBoardNano</a:t>
            </a:r>
            <a:r>
              <a:rPr lang="hr-HR" dirty="0"/>
              <a:t>, posjećeno 01.05.2020.</a:t>
            </a:r>
            <a:endParaRPr lang="de-DE" dirty="0"/>
          </a:p>
          <a:p>
            <a:pPr lvl="0"/>
            <a:r>
              <a:rPr lang="hr-HR" dirty="0"/>
              <a:t>e-radionica.com: „CRODUINO BASIC3“, s Interneta, </a:t>
            </a:r>
            <a:r>
              <a:rPr lang="hr-HR" u="sng" dirty="0">
                <a:hlinkClick r:id="rId6"/>
              </a:rPr>
              <a:t>https://e-radionica.com/hr/croduino-basic3.html</a:t>
            </a:r>
            <a:r>
              <a:rPr lang="hr-HR" dirty="0"/>
              <a:t>, posjećeno 01.05.2020.</a:t>
            </a:r>
            <a:endParaRPr lang="de-DE" dirty="0"/>
          </a:p>
          <a:p>
            <a:pPr lvl="0"/>
            <a:r>
              <a:rPr lang="hr-HR" dirty="0"/>
              <a:t>davidzovko: „Croduino Basic Eagle Files“, s Interneta, </a:t>
            </a:r>
            <a:r>
              <a:rPr lang="hr-HR" u="sng" dirty="0">
                <a:hlinkClick r:id="rId7"/>
              </a:rPr>
              <a:t>https://github.com/e-radionicacom/Croduino-Basic-Eagle-Files/blob/master/README.md</a:t>
            </a:r>
            <a:r>
              <a:rPr lang="hr-HR" dirty="0"/>
              <a:t>, 26.11.2018., posjećeno 01.05.2020.</a:t>
            </a:r>
            <a:endParaRPr lang="de-DE" dirty="0"/>
          </a:p>
          <a:p>
            <a:pPr lvl="0"/>
            <a:r>
              <a:rPr lang="hr-HR" dirty="0"/>
              <a:t>Svetlana Radlovački: „Šta je PWM?“, s Interneta, </a:t>
            </a:r>
            <a:r>
              <a:rPr lang="hr-HR" u="sng" dirty="0">
                <a:hlinkClick r:id="rId8"/>
              </a:rPr>
              <a:t>https://cecaradlovacki.wordpress.com/2015/04/10/sta-je-pwm/</a:t>
            </a:r>
            <a:r>
              <a:rPr lang="hr-HR" dirty="0"/>
              <a:t>, 10.04.2015, posjećeno 01.05.2020</a:t>
            </a:r>
            <a:r>
              <a:rPr lang="hr-HR" dirty="0" smtClean="0"/>
              <a:t>.</a:t>
            </a:r>
          </a:p>
          <a:p>
            <a:r>
              <a:rPr lang="hr-HR" dirty="0"/>
              <a:t>Timothy Hirzel: „PWM“, s Interneta, </a:t>
            </a:r>
            <a:r>
              <a:rPr lang="hr-HR" u="sng" dirty="0">
                <a:hlinkClick r:id="rId9"/>
              </a:rPr>
              <a:t>https://www.arduino.cc/en/tutorial/PWM</a:t>
            </a:r>
            <a:r>
              <a:rPr lang="hr-HR" dirty="0"/>
              <a:t>, posjećeno 01.05.2020.</a:t>
            </a:r>
            <a:endParaRPr lang="de-DE" dirty="0"/>
          </a:p>
          <a:p>
            <a:pPr lvl="0"/>
            <a:endParaRPr lang="de-DE" dirty="0"/>
          </a:p>
          <a:p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13</a:t>
            </a:fld>
            <a:endParaRPr lang="en-GB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Literatura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lvl="0"/>
            <a:r>
              <a:rPr lang="hr-HR" dirty="0"/>
              <a:t>YourDuino-Maker: „HOW-TO Use The ARDUINO SERIAL MONITOR“, s Interneta, </a:t>
            </a:r>
            <a:r>
              <a:rPr lang="hr-HR" u="sng" dirty="0">
                <a:hlinkClick r:id="rId2"/>
              </a:rPr>
              <a:t>https://www.instructables.com/id/HOW-TO-use-the-ARDUINO-SERIAL-MONITOR/</a:t>
            </a:r>
            <a:r>
              <a:rPr lang="hr-HR" dirty="0"/>
              <a:t>, posjećeno 01.05.2020.</a:t>
            </a:r>
            <a:endParaRPr lang="de-DE" dirty="0"/>
          </a:p>
          <a:p>
            <a:pPr lvl="0"/>
            <a:r>
              <a:rPr lang="hr-HR" dirty="0"/>
              <a:t>ArduinoGetStarted.com: „Arduino-Serial Monitor“, s Interneta, </a:t>
            </a:r>
            <a:r>
              <a:rPr lang="hr-HR" u="sng" dirty="0">
                <a:hlinkClick r:id="rId3"/>
              </a:rPr>
              <a:t>https://arduinogetstarted.com/tutorials/arduino-serial-monitor</a:t>
            </a:r>
            <a:r>
              <a:rPr lang="hr-HR" dirty="0"/>
              <a:t>, posjećeno 01.05.2020.</a:t>
            </a:r>
            <a:endParaRPr lang="de-DE" dirty="0"/>
          </a:p>
          <a:p>
            <a:pPr lvl="0"/>
            <a:r>
              <a:rPr lang="hr-HR" dirty="0"/>
              <a:t>Arduino: „Digital Pins“, s Interneta, </a:t>
            </a:r>
            <a:r>
              <a:rPr lang="hr-HR" u="sng" dirty="0">
                <a:hlinkClick r:id="rId4"/>
              </a:rPr>
              <a:t>https://www.arduino.cc/en/Tutorial/DigitalPins</a:t>
            </a:r>
            <a:r>
              <a:rPr lang="hr-HR" dirty="0"/>
              <a:t>, posjećeno 02.05.2020.</a:t>
            </a:r>
            <a:endParaRPr lang="de-DE" dirty="0"/>
          </a:p>
          <a:p>
            <a:pPr lvl="0"/>
            <a:r>
              <a:rPr lang="hr-HR" dirty="0"/>
              <a:t>e-radionica.com: „PULL-UP / PULL-DOWN OTPORNIK“, s Interneta, </a:t>
            </a:r>
            <a:r>
              <a:rPr lang="hr-HR" u="sng" dirty="0">
                <a:hlinkClick r:id="rId5"/>
              </a:rPr>
              <a:t>https://e-radionica.com/hr/blog/2015/08/19/pull-up-pull-down-otpornik/</a:t>
            </a:r>
            <a:r>
              <a:rPr lang="hr-HR" dirty="0"/>
              <a:t>, 19.08.2015., posjećeno 02.05.2020.</a:t>
            </a:r>
            <a:endParaRPr lang="de-DE" dirty="0"/>
          </a:p>
          <a:p>
            <a:pPr lvl="0"/>
            <a:r>
              <a:rPr lang="hr-HR" dirty="0"/>
              <a:t>Learning about Electronics, „Pull up and Pull down Resistors-Explained“, s Interneta, </a:t>
            </a:r>
            <a:r>
              <a:rPr lang="hr-HR" u="sng" dirty="0">
                <a:hlinkClick r:id="rId6"/>
              </a:rPr>
              <a:t>http://www.learningaboutelectronics.com/Articles/Pull-up-and-pull-down-resistors.php</a:t>
            </a:r>
            <a:r>
              <a:rPr lang="hr-HR" dirty="0"/>
              <a:t>, posjećeno 03.05.2020.</a:t>
            </a:r>
            <a:endParaRPr lang="de-DE" dirty="0"/>
          </a:p>
          <a:p>
            <a:pPr lvl="0"/>
            <a:r>
              <a:rPr lang="hr-HR" dirty="0"/>
              <a:t>Hrvatska enciklopedija, mrežno izdanje, Leksikografski zavod Miroslav Krleža, „Ultrazvuk“, s Interneta, </a:t>
            </a:r>
            <a:r>
              <a:rPr lang="hr-HR" u="sng" dirty="0">
                <a:hlinkClick r:id="rId7"/>
              </a:rPr>
              <a:t>https://www.enciklopedija.hr/Natuknica.aspx?ID=63120</a:t>
            </a:r>
            <a:r>
              <a:rPr lang="hr-HR" dirty="0"/>
              <a:t>, 2020., posjećeno 22.03.2020.</a:t>
            </a:r>
            <a:endParaRPr lang="de-DE" dirty="0"/>
          </a:p>
          <a:p>
            <a:pPr lvl="0"/>
            <a:r>
              <a:rPr lang="hr-HR" dirty="0"/>
              <a:t>Johnson Electric, Nanomotion, „The Piezoelectric Effect“, s Interneta, </a:t>
            </a:r>
            <a:r>
              <a:rPr lang="hr-HR" u="sng" dirty="0">
                <a:hlinkClick r:id="rId8"/>
              </a:rPr>
              <a:t>https://www.nanomotion.com/piezo-ceramic-motor-technology/piezoelectric-effect/</a:t>
            </a:r>
            <a:r>
              <a:rPr lang="hr-HR" dirty="0"/>
              <a:t>, posjećeno 22.03.2020.</a:t>
            </a:r>
            <a:endParaRPr lang="de-DE" dirty="0"/>
          </a:p>
          <a:p>
            <a:pPr lvl="0"/>
            <a:r>
              <a:rPr lang="hr-HR" dirty="0"/>
              <a:t>Alchemy Technology, „Piezoelectric effect“, s Interneta, </a:t>
            </a:r>
            <a:r>
              <a:rPr lang="hr-HR" u="sng" dirty="0">
                <a:hlinkClick r:id="rId9"/>
              </a:rPr>
              <a:t>https://alchemytechnology.org/f/piezoelectric-effect</a:t>
            </a:r>
            <a:r>
              <a:rPr lang="hr-HR" dirty="0"/>
              <a:t>, 27.05. 2019., posjećeno 22.03.2020.</a:t>
            </a:r>
            <a:endParaRPr lang="de-DE" dirty="0"/>
          </a:p>
          <a:p>
            <a:pPr lvl="0"/>
            <a:r>
              <a:rPr lang="hr-HR" dirty="0"/>
              <a:t>Hrvatska enciklopedija, mrežno izdanje, Leksikografski zavod Miroslav Krleža, „Magnetostrikcija“, s Interneta, </a:t>
            </a:r>
            <a:r>
              <a:rPr lang="hr-HR" u="sng" dirty="0">
                <a:hlinkClick r:id="rId10"/>
              </a:rPr>
              <a:t>https://www.enciklopedija.hr/natuknica.aspx?ID=38046</a:t>
            </a:r>
            <a:r>
              <a:rPr lang="hr-HR" dirty="0"/>
              <a:t>, 2020. posjećeno 23.03.2020.</a:t>
            </a:r>
            <a:endParaRPr lang="de-DE" dirty="0"/>
          </a:p>
          <a:p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14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Literatura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lvl="0"/>
            <a:r>
              <a:rPr lang="hr-HR" dirty="0"/>
              <a:t>Janocha, H.: „Aktoren“, Springer Verlag, Berlin, 2006.</a:t>
            </a:r>
            <a:endParaRPr lang="de-DE" dirty="0"/>
          </a:p>
          <a:p>
            <a:pPr lvl="0"/>
            <a:r>
              <a:rPr lang="hr-HR" dirty="0"/>
              <a:t>Sathees Physics, „ULTRASONIC wave“, s Interneta, </a:t>
            </a:r>
            <a:r>
              <a:rPr lang="hr-HR" u="sng" dirty="0">
                <a:hlinkClick r:id="rId2"/>
              </a:rPr>
              <a:t>https://www.slideshare.net/SatheesPhysics/ultrasonic-wave</a:t>
            </a:r>
            <a:r>
              <a:rPr lang="hr-HR" dirty="0"/>
              <a:t>, 06.02.2016., posjećeno 23.03.2020.</a:t>
            </a:r>
            <a:endParaRPr lang="de-DE" dirty="0"/>
          </a:p>
          <a:p>
            <a:pPr lvl="0"/>
            <a:r>
              <a:rPr lang="hr-HR" dirty="0"/>
              <a:t>BrainKart.com, „Magnetostriction Method: Principle, Construction, working, Advantages and Limitations“, s Interneta, </a:t>
            </a:r>
            <a:r>
              <a:rPr lang="hr-HR" u="sng" dirty="0">
                <a:hlinkClick r:id="rId3"/>
              </a:rPr>
              <a:t>https://www.brainkart.com/article/Magnetostriction-Method--Principle,-Construction,-working,-Advantages-and-Limitations_6871/</a:t>
            </a:r>
            <a:r>
              <a:rPr lang="hr-HR" dirty="0"/>
              <a:t>, posjećeno 23.03.2020.</a:t>
            </a:r>
            <a:endParaRPr lang="de-DE" dirty="0"/>
          </a:p>
          <a:p>
            <a:pPr lvl="0"/>
            <a:r>
              <a:rPr lang="hr-HR" dirty="0"/>
              <a:t>Hrvatska enciklopedija, mrežno izdanje, Leksikografski zavod Miroslav Krleža, „Elektrostrikcija“, s Interneta, </a:t>
            </a:r>
            <a:r>
              <a:rPr lang="hr-HR" u="sng" dirty="0">
                <a:hlinkClick r:id="rId4"/>
              </a:rPr>
              <a:t>https://www.enciklopedija.hr/natuknica.aspx?ID=17672</a:t>
            </a:r>
            <a:r>
              <a:rPr lang="hr-HR" dirty="0"/>
              <a:t>, 2020., posjećeno 23.03.2020.</a:t>
            </a:r>
            <a:endParaRPr lang="de-DE" dirty="0"/>
          </a:p>
          <a:p>
            <a:pPr lvl="0"/>
            <a:r>
              <a:rPr lang="hr-HR" dirty="0"/>
              <a:t>VIDYARTHIPLUS (V+) BLOG, „Engineering Physics 1 – Ultrasonics – Piezo-Electric Effect – Piezo-Electric Generator“, </a:t>
            </a:r>
            <a:r>
              <a:rPr lang="hr-HR" u="sng" dirty="0">
                <a:hlinkClick r:id="rId5"/>
              </a:rPr>
              <a:t>http://www.vidyarthiplus.in/2011/11/engineering-physics-1-ultrasonics-piezo.html</a:t>
            </a:r>
            <a:r>
              <a:rPr lang="hr-HR" dirty="0"/>
              <a:t>, posjećeno 24.03.2020.</a:t>
            </a:r>
            <a:endParaRPr lang="de-DE" dirty="0"/>
          </a:p>
          <a:p>
            <a:pPr lvl="0"/>
            <a:r>
              <a:rPr lang="hr-HR" dirty="0"/>
              <a:t>Josh Pooja, Ques10, „Explain piezoelectric oscillator to produce USW.“, </a:t>
            </a:r>
            <a:r>
              <a:rPr lang="hr-HR" u="sng" dirty="0">
                <a:hlinkClick r:id="rId6"/>
              </a:rPr>
              <a:t>https://www.ques10.com/p/10235/explain-piezoelectric-oscillator-to-produce-usw/</a:t>
            </a:r>
            <a:r>
              <a:rPr lang="hr-HR" dirty="0"/>
              <a:t>, 2016., posjećeno 24.03.2020.</a:t>
            </a:r>
            <a:endParaRPr lang="de-DE" dirty="0"/>
          </a:p>
          <a:p>
            <a:pPr lvl="0"/>
            <a:r>
              <a:rPr lang="hr-HR" dirty="0"/>
              <a:t>Kruz V.: „Tehnička fizika za tehničke škole“, „Školska knjiga“, Zagreb, 1969.</a:t>
            </a:r>
            <a:endParaRPr lang="de-DE" dirty="0"/>
          </a:p>
          <a:p>
            <a:pPr lvl="0"/>
            <a:r>
              <a:rPr lang="hr-HR" dirty="0"/>
              <a:t>davorfranjkovic.tripod.com, „Brzina zvuka“, s Interneta, </a:t>
            </a:r>
            <a:r>
              <a:rPr lang="hr-HR" u="sng" dirty="0">
                <a:hlinkClick r:id="rId7"/>
              </a:rPr>
              <a:t>http://davorfranjkovic.tripod.com/AERODINAMIKA-VISOKIH-BRZINA/BRZINA-ZVUKA.PDF</a:t>
            </a:r>
            <a:r>
              <a:rPr lang="hr-HR" dirty="0"/>
              <a:t>, posjećeno 24.03.2020.</a:t>
            </a:r>
            <a:endParaRPr lang="de-DE" dirty="0"/>
          </a:p>
          <a:p>
            <a:r>
              <a:rPr lang="hr-HR" dirty="0"/>
              <a:t>Lelas D: Prezentacije predavanja 4 za kolegij „Fizika 2“, FESB, 07.11.2018</a:t>
            </a:r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15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Literatura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lvl="0"/>
            <a:r>
              <a:rPr lang="hr-HR" dirty="0"/>
              <a:t>Mik Cox; tpg2112: „How to relate speed of sound with relative humidity?“, </a:t>
            </a:r>
            <a:r>
              <a:rPr lang="hr-HR" u="sng" dirty="0">
                <a:hlinkClick r:id="rId2"/>
              </a:rPr>
              <a:t>https://physics.stackexchange.com/questions/46705/how-to-relate-speed-of-sound-with-relative-humidity</a:t>
            </a:r>
            <a:r>
              <a:rPr lang="hr-HR" dirty="0"/>
              <a:t>, StackExchange-Physics, 13.12.2012, posjećeno 24.03.2020</a:t>
            </a:r>
            <a:endParaRPr lang="de-DE" dirty="0"/>
          </a:p>
          <a:p>
            <a:pPr lvl="0"/>
            <a:r>
              <a:rPr lang="hr-HR" dirty="0"/>
              <a:t>Hrvatska enciklopedija, mrežno izdanje, Leksikografski zavod Miroslav Krleža, „Zvuk“, s Interneta, </a:t>
            </a:r>
            <a:r>
              <a:rPr lang="hr-HR" u="sng" dirty="0">
                <a:hlinkClick r:id="rId3"/>
              </a:rPr>
              <a:t>https://www.enciklopedija.hr/natuknica.aspx?ID=67594</a:t>
            </a:r>
            <a:r>
              <a:rPr lang="hr-HR" dirty="0"/>
              <a:t>, posjećeno 24.03.2020</a:t>
            </a:r>
            <a:endParaRPr lang="de-DE" dirty="0"/>
          </a:p>
          <a:p>
            <a:pPr lvl="0"/>
            <a:r>
              <a:rPr lang="hr-HR" dirty="0"/>
              <a:t>ElecFreaks, „Ultrasonic Ranging Module HC-SR04“, datasheet, s Interneta, </a:t>
            </a:r>
            <a:r>
              <a:rPr lang="hr-HR" u="sng" dirty="0">
                <a:hlinkClick r:id="rId4"/>
              </a:rPr>
              <a:t>https://cdn.sparkfun.com/datasheets/Sensors/Proximity/HCSR04.pdf</a:t>
            </a:r>
            <a:r>
              <a:rPr lang="hr-HR" dirty="0"/>
              <a:t>, posjećeno 24.03.2020.</a:t>
            </a:r>
            <a:endParaRPr lang="de-DE" dirty="0"/>
          </a:p>
          <a:p>
            <a:pPr lvl="0"/>
            <a:r>
              <a:rPr lang="hr-HR" dirty="0"/>
              <a:t>Jos Verstraten, Blogger: „HC-SR04 ultrasonic module tested“, s Interneta, </a:t>
            </a:r>
            <a:r>
              <a:rPr lang="hr-HR" u="sng" dirty="0">
                <a:hlinkClick r:id="rId5"/>
              </a:rPr>
              <a:t>https://chinese-electronics-products-tested.blogspot.com/p/hc-sr04-ultrasonic-module-tested.html</a:t>
            </a:r>
            <a:r>
              <a:rPr lang="hr-HR" dirty="0"/>
              <a:t>, 22.12.2017., posjećeno 24.03.2020.</a:t>
            </a:r>
            <a:endParaRPr lang="de-DE" dirty="0"/>
          </a:p>
          <a:p>
            <a:pPr lvl="0"/>
            <a:r>
              <a:rPr lang="hr-HR" dirty="0"/>
              <a:t>components101.com: „HC-SR04 Ultrasonic Sensor“, s Interneta, </a:t>
            </a:r>
            <a:r>
              <a:rPr lang="hr-HR" u="sng" dirty="0">
                <a:hlinkClick r:id="rId6"/>
              </a:rPr>
              <a:t>https://components101.com/ultrasonic-sensor-working-pinout-datasheet</a:t>
            </a:r>
            <a:r>
              <a:rPr lang="hr-HR" dirty="0"/>
              <a:t>, 18.09.2017., posjećeno 25.03.2020.</a:t>
            </a:r>
            <a:endParaRPr lang="de-DE" dirty="0"/>
          </a:p>
          <a:p>
            <a:pPr lvl="0"/>
            <a:r>
              <a:rPr lang="hr-HR" dirty="0"/>
              <a:t>Benne de Bakker, „How to use a HC-SR04 Ultrasonic Distance Sensor with Arduino“, s Interneta, </a:t>
            </a:r>
            <a:r>
              <a:rPr lang="hr-HR" u="sng" dirty="0">
                <a:hlinkClick r:id="rId7"/>
              </a:rPr>
              <a:t>https://www.makerguides.com/hc-sr04-arduino-tutorial/</a:t>
            </a:r>
            <a:r>
              <a:rPr lang="hr-HR" dirty="0"/>
              <a:t>, posjećeno 25.03.2020.</a:t>
            </a:r>
            <a:endParaRPr lang="de-DE" dirty="0"/>
          </a:p>
          <a:p>
            <a:pPr lvl="0"/>
            <a:r>
              <a:rPr lang="hr-HR" dirty="0"/>
              <a:t>Technical Editor: „Advantages and disadvantages of ultrasonic level measurement“, </a:t>
            </a:r>
            <a:r>
              <a:rPr lang="hr-HR" u="sng" dirty="0">
                <a:hlinkClick r:id="rId8"/>
              </a:rPr>
              <a:t>https://www.polytechnichub.com/advantages-disadvantages-ultrasonic-level-measurement/</a:t>
            </a:r>
            <a:r>
              <a:rPr lang="hr-HR" dirty="0"/>
              <a:t>, 16.07.2017., posjećeno 25.03.2020.</a:t>
            </a:r>
            <a:endParaRPr lang="de-DE" dirty="0"/>
          </a:p>
          <a:p>
            <a:pPr lvl="0"/>
            <a:r>
              <a:rPr lang="hr-HR" dirty="0"/>
              <a:t>Jajac B.: „Teorijske osnove elektrotehnike s odabranim primjerima“, svezak I., Graphis, Zagreb, 1998.</a:t>
            </a:r>
            <a:endParaRPr lang="de-DE" dirty="0"/>
          </a:p>
          <a:p>
            <a:pPr lvl="0"/>
            <a:r>
              <a:rPr lang="hr-HR" dirty="0"/>
              <a:t>Kovač N.: „Prezentacije s predavanja kolegija Osnove elektrotehnike 1“, FESB, Split, 2017.</a:t>
            </a:r>
            <a:endParaRPr lang="de-DE" dirty="0"/>
          </a:p>
          <a:p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16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Literatura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lvl="0"/>
            <a:r>
              <a:rPr lang="hr-HR" sz="5800" dirty="0"/>
              <a:t>Hrvatska enciklopedija; Leksikografski zavod Miroslav Krleža: „Dielektrik“, s Interneta, </a:t>
            </a:r>
            <a:r>
              <a:rPr lang="hr-HR" sz="5800" u="sng" dirty="0">
                <a:hlinkClick r:id="rId2"/>
              </a:rPr>
              <a:t>https://www.enciklopedija.hr/Natuknica.aspx?ID=15003</a:t>
            </a:r>
            <a:r>
              <a:rPr lang="hr-HR" sz="5800" dirty="0"/>
              <a:t>, posjećeno 29.03.2020</a:t>
            </a:r>
            <a:endParaRPr lang="de-DE" sz="5800" dirty="0"/>
          </a:p>
          <a:p>
            <a:pPr lvl="0"/>
            <a:r>
              <a:rPr lang="hr-HR" sz="5800" dirty="0"/>
              <a:t>deacademic.com: „Kapazitiver Spannungsabfall“, s Interneta, </a:t>
            </a:r>
            <a:r>
              <a:rPr lang="hr-HR" sz="5800" u="sng" dirty="0">
                <a:hlinkClick r:id="rId3"/>
              </a:rPr>
              <a:t>https://deacademic.com/dic.nsf/dewiki/743184</a:t>
            </a:r>
            <a:r>
              <a:rPr lang="hr-HR" sz="5800" dirty="0"/>
              <a:t>, posjećeno 31.03.2020.</a:t>
            </a:r>
            <a:endParaRPr lang="de-DE" sz="5800" dirty="0"/>
          </a:p>
          <a:p>
            <a:pPr lvl="0"/>
            <a:r>
              <a:rPr lang="hr-HR" sz="5800" dirty="0"/>
              <a:t>R. Nave: „Electric Field of Line Charge“, s Interneta, </a:t>
            </a:r>
            <a:r>
              <a:rPr lang="hr-HR" sz="5800" u="sng" dirty="0">
                <a:hlinkClick r:id="rId4"/>
              </a:rPr>
              <a:t>http://hyperphysics.phy-astr.gsu.edu/hbase/electric/elecyl.html</a:t>
            </a:r>
            <a:r>
              <a:rPr lang="hr-HR" sz="5800" dirty="0"/>
              <a:t>, posjećeno 31.03.2020.</a:t>
            </a:r>
            <a:endParaRPr lang="de-DE" sz="5800" dirty="0"/>
          </a:p>
          <a:p>
            <a:pPr lvl="0"/>
            <a:r>
              <a:rPr lang="hr-HR" sz="5800" dirty="0"/>
              <a:t>Kulišić, P.: „Mehanika i toplina“, Školska knjiga, Zagreb, 2005.</a:t>
            </a:r>
            <a:endParaRPr lang="de-DE" sz="5800" dirty="0"/>
          </a:p>
          <a:p>
            <a:pPr lvl="0"/>
            <a:r>
              <a:rPr lang="hr-HR" sz="5800" dirty="0"/>
              <a:t>Šesnić S.: „Repetitorij predavanja“, 2.dio za kolegij Osnove elektrotehnike 2, FESB, Split, 2018.</a:t>
            </a:r>
            <a:endParaRPr lang="de-DE" sz="5800" dirty="0"/>
          </a:p>
          <a:p>
            <a:pPr lvl="0"/>
            <a:r>
              <a:rPr lang="hr-HR" sz="5800" dirty="0"/>
              <a:t>jon, PIC Tutorials: „Capacitance Meter Mk II“, s Interneta, </a:t>
            </a:r>
            <a:r>
              <a:rPr lang="hr-HR" sz="5800" u="sng" dirty="0">
                <a:hlinkClick r:id="rId5"/>
              </a:rPr>
              <a:t>https://wordpress.codewrite.co.uk/pic/2014/01/25/capacitance-meter-mk-ii/</a:t>
            </a:r>
            <a:r>
              <a:rPr lang="hr-HR" sz="5800" dirty="0"/>
              <a:t>, 25.01.2014, posjećeno 09.04.2020.</a:t>
            </a:r>
            <a:endParaRPr lang="de-DE" sz="5800" dirty="0"/>
          </a:p>
          <a:p>
            <a:pPr lvl="0"/>
            <a:r>
              <a:rPr lang="hr-HR" sz="5800" dirty="0"/>
              <a:t>jon, PIC Tutorials: „Capacitance measurement with the Arduino Uno“, s Interneta, </a:t>
            </a:r>
            <a:r>
              <a:rPr lang="hr-HR" sz="5800" u="sng" dirty="0">
                <a:hlinkClick r:id="rId6"/>
              </a:rPr>
              <a:t>https://wordpress.codewrite.co.uk/pic/2014/01/21/cap-meter-with-arduino-uno/index.html</a:t>
            </a:r>
            <a:r>
              <a:rPr lang="hr-HR" sz="5800" dirty="0"/>
              <a:t>, posjećeno 09.04.2020</a:t>
            </a:r>
            <a:r>
              <a:rPr lang="hr-HR" sz="5800" dirty="0" smtClean="0"/>
              <a:t>.</a:t>
            </a:r>
          </a:p>
          <a:p>
            <a:pPr lvl="0"/>
            <a:r>
              <a:rPr lang="hr-HR" sz="5800" dirty="0"/>
              <a:t>Generalić, Eni. "Relativna gustoća."Englesko-hrvatski kemijski rječnik &amp; glosar.“, s Interneta, </a:t>
            </a:r>
            <a:r>
              <a:rPr lang="hr-HR" sz="5800" u="sng" dirty="0">
                <a:hlinkClick r:id="rId7"/>
              </a:rPr>
              <a:t>https://glossary.periodni.com/glosar.php?hr=relativna+gusto%C4%87a</a:t>
            </a:r>
            <a:r>
              <a:rPr lang="hr-HR" sz="5800" dirty="0"/>
              <a:t>, 20.10.2018. KTF-Split., posjećeno 15.4.2020.</a:t>
            </a:r>
            <a:endParaRPr lang="de-DE" sz="5800" dirty="0"/>
          </a:p>
          <a:p>
            <a:pPr lvl="0"/>
            <a:r>
              <a:rPr lang="hr-HR" sz="5800" dirty="0"/>
              <a:t>circuits4you, „Water Level Measurement Using Arduino“, s Interneta, </a:t>
            </a:r>
            <a:r>
              <a:rPr lang="hr-HR" sz="5800" u="sng" dirty="0">
                <a:hlinkClick r:id="rId8"/>
              </a:rPr>
              <a:t>https://circuits4you.com/2016/05/13/water-level-measurement-arduino/</a:t>
            </a:r>
            <a:r>
              <a:rPr lang="hr-HR" sz="5800" dirty="0"/>
              <a:t>, 05.03.2016., posjećeno 13.04.2020.</a:t>
            </a:r>
            <a:endParaRPr lang="de-DE" sz="5800" dirty="0"/>
          </a:p>
          <a:p>
            <a:r>
              <a:rPr lang="hr-HR" sz="5800" dirty="0"/>
              <a:t>NXP: „Data Sheet: Technical Data MPX5010 Rev 13“, s Interneta, </a:t>
            </a:r>
            <a:r>
              <a:rPr lang="hr-HR" sz="5800" u="sng" dirty="0">
                <a:hlinkClick r:id="rId9"/>
              </a:rPr>
              <a:t>https://www.nxp.com/docs/en/data-sheet/MPX5010.pdf</a:t>
            </a:r>
            <a:r>
              <a:rPr lang="hr-HR" sz="5800" dirty="0"/>
              <a:t>, 10/2012, posjećeno 14.04.2020.</a:t>
            </a:r>
            <a:endParaRPr lang="de-DE" sz="5800" dirty="0"/>
          </a:p>
          <a:p>
            <a:pPr lvl="0"/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17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2420888"/>
            <a:ext cx="8229600" cy="1143000"/>
          </a:xfrm>
        </p:spPr>
        <p:txBody>
          <a:bodyPr/>
          <a:lstStyle/>
          <a:p>
            <a:r>
              <a:rPr lang="hr-HR" dirty="0" smtClean="0"/>
              <a:t>Hvala na pažnji!</a:t>
            </a:r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20DA-81AB-456E-838E-A3FFBDD64149}" type="datetime1">
              <a:rPr lang="hr-HR" smtClean="0"/>
              <a:pPr/>
              <a:t>18.7.2020.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Fakultet elektrotehnike, strojarstva i brodogradnje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DD93-087F-443E-95B2-A9EF64A8957F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7" name="Grafik 6" descr="HC-SR04-ultrasonic-module(02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5400000">
            <a:off x="6531635" y="3557597"/>
            <a:ext cx="2623556" cy="164628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1529</Words>
  <Application>Microsoft Office PowerPoint</Application>
  <PresentationFormat>Bildschirmpräsentation (4:3)</PresentationFormat>
  <Paragraphs>224</Paragraphs>
  <Slides>19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0" baseType="lpstr">
      <vt:lpstr>Larissa-Design</vt:lpstr>
      <vt:lpstr>Sustav za mjerenje razine tekućine</vt:lpstr>
      <vt:lpstr>Sadržaj</vt:lpstr>
      <vt:lpstr>Uvod</vt:lpstr>
      <vt:lpstr>Ultrazvučna mjerna metoda</vt:lpstr>
      <vt:lpstr>Ultrazvučna mjerna metoda</vt:lpstr>
      <vt:lpstr>Ultrazvučna mjerna metoda</vt:lpstr>
      <vt:lpstr>Ultrazvučna mjerna metoda</vt:lpstr>
      <vt:lpstr>Ultrazvučna mjerna metoda</vt:lpstr>
      <vt:lpstr>Kapacitivna mjerna metoda</vt:lpstr>
      <vt:lpstr>Kapacitivna mjerna metoda</vt:lpstr>
      <vt:lpstr>Hidrostatska mjerna metoda</vt:lpstr>
      <vt:lpstr>Hidrostatska mjerna metoda</vt:lpstr>
      <vt:lpstr>Zaključak</vt:lpstr>
      <vt:lpstr>Literatura</vt:lpstr>
      <vt:lpstr>Literatura</vt:lpstr>
      <vt:lpstr>Literatura</vt:lpstr>
      <vt:lpstr>Literatura</vt:lpstr>
      <vt:lpstr>Literatura</vt:lpstr>
      <vt:lpstr>Hvala na pažnji!</vt:lpstr>
    </vt:vector>
  </TitlesOfParts>
  <Company>Firmenname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Sustav za mjerenje razine tekućine</dc:title>
  <dc:creator>Benutzer</dc:creator>
  <cp:lastModifiedBy>Benutzer</cp:lastModifiedBy>
  <cp:revision>96</cp:revision>
  <dcterms:created xsi:type="dcterms:W3CDTF">2020-07-14T11:09:00Z</dcterms:created>
  <dcterms:modified xsi:type="dcterms:W3CDTF">2020-07-18T14:18:50Z</dcterms:modified>
</cp:coreProperties>
</file>